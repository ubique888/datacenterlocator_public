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5696d3a4404d5d" /><Relationship Type="http://schemas.openxmlformats.org/officeDocument/2006/relationships/extended-properties" Target="/docProps/app.xml" Id="R21673342b6354b68" /><Relationship Type="http://schemas.openxmlformats.org/officeDocument/2006/relationships/officeDocument" Target="/ppt/presentation.xml" Id="Rfb62ac6170f34470" /></Relationships>
</file>

<file path=ppt/presentation.xml><?xml version="1.0" encoding="utf-8"?>
<p:presentation xmlns:p="http://schemas.openxmlformats.org/presentationml/2006/main">
  <p:sldMasterIdLst>
    <p:sldMasterId xmlns:r="http://schemas.openxmlformats.org/officeDocument/2006/relationships" id="2147483648" r:id="R423d33209a7e47fe"/>
  </p:sldMasterIdLst>
  <p:notesMasterIdLst>
    <p:notesMasterId xmlns:r="http://schemas.openxmlformats.org/officeDocument/2006/relationships" r:id="R9923831db1194cc9"/>
  </p:notesMasterIdLst>
  <p:sldIdLst>
    <p:sldId xmlns:r="http://schemas.openxmlformats.org/officeDocument/2006/relationships" id="256" r:id="R806779dfab774b8f"/>
    <p:sldId xmlns:r="http://schemas.openxmlformats.org/officeDocument/2006/relationships" id="257" r:id="R736d933893aa4091"/>
    <p:sldId xmlns:r="http://schemas.openxmlformats.org/officeDocument/2006/relationships" id="258" r:id="R1709a6ef86c24f28"/>
    <p:sldId xmlns:r="http://schemas.openxmlformats.org/officeDocument/2006/relationships" id="259" r:id="Rd8eb06576b544994"/>
    <p:sldId xmlns:r="http://schemas.openxmlformats.org/officeDocument/2006/relationships" id="260" r:id="R86bd8613caf743a0"/>
    <p:sldId xmlns:r="http://schemas.openxmlformats.org/officeDocument/2006/relationships" id="261" r:id="Rb7abd68de6694c71"/>
    <p:sldId xmlns:r="http://schemas.openxmlformats.org/officeDocument/2006/relationships" id="262" r:id="R5ee45813161145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d95baff8f942d6" /><Relationship Type="http://schemas.openxmlformats.org/officeDocument/2006/relationships/slideMaster" Target="/ppt/slideMasters/slideMaster1.xml" Id="R423d33209a7e47fe" /><Relationship Type="http://schemas.openxmlformats.org/officeDocument/2006/relationships/notesMaster" Target="/ppt/notesMasters/notesMaster1.xml" Id="R9923831db1194cc9" /><Relationship Type="http://schemas.openxmlformats.org/officeDocument/2006/relationships/presProps" Target="/ppt/presProps.xml" Id="R5359826f3a154f50" /><Relationship Type="http://schemas.openxmlformats.org/officeDocument/2006/relationships/tableStyles" Target="/ppt/tableStyles.xml" Id="R4370416d44c8480a" /><Relationship Type="http://schemas.openxmlformats.org/officeDocument/2006/relationships/slide" Target="/ppt/slides/slide1.xml" Id="R806779dfab774b8f" /><Relationship Type="http://schemas.openxmlformats.org/officeDocument/2006/relationships/slide" Target="/ppt/slides/slide2.xml" Id="R736d933893aa4091" /><Relationship Type="http://schemas.openxmlformats.org/officeDocument/2006/relationships/slide" Target="/ppt/slides/slide3.xml" Id="R1709a6ef86c24f28" /><Relationship Type="http://schemas.openxmlformats.org/officeDocument/2006/relationships/slide" Target="/ppt/slides/slide4.xml" Id="Rd8eb06576b544994" /><Relationship Type="http://schemas.openxmlformats.org/officeDocument/2006/relationships/slide" Target="/ppt/slides/slide5.xml" Id="R86bd8613caf743a0" /><Relationship Type="http://schemas.openxmlformats.org/officeDocument/2006/relationships/slide" Target="/ppt/slides/slide6.xml" Id="Rb7abd68de6694c71" /><Relationship Type="http://schemas.openxmlformats.org/officeDocument/2006/relationships/slide" Target="/ppt/slides/slide7.xml" Id="R5ee45813161145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3d4ff897dc4d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eda4b1a8014079" /><Relationship Type="http://schemas.openxmlformats.org/officeDocument/2006/relationships/notesMaster" Target="/ppt/notesMasters/notesMaster1.xml" Id="Rb59a38509a8144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d90e2c290d45c5" /><Relationship Type="http://schemas.openxmlformats.org/officeDocument/2006/relationships/notesMaster" Target="/ppt/notesMasters/notesMaster1.xml" Id="Rb43d16977e484b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59dbbf3faa4491" /><Relationship Type="http://schemas.openxmlformats.org/officeDocument/2006/relationships/notesMaster" Target="/ppt/notesMasters/notesMaster1.xml" Id="R4dc2d022111a4c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2c470e6c144ba7" /><Relationship Type="http://schemas.openxmlformats.org/officeDocument/2006/relationships/notesMaster" Target="/ppt/notesMasters/notesMaster1.xml" Id="R305b3693f1de45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6c3d4211274b0d" /><Relationship Type="http://schemas.openxmlformats.org/officeDocument/2006/relationships/notesMaster" Target="/ppt/notesMasters/notesMaster1.xml" Id="Rd4bad6cf6bb141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9627cbda844f3e" /><Relationship Type="http://schemas.openxmlformats.org/officeDocument/2006/relationships/notesMaster" Target="/ppt/notesMasters/notesMaster1.xml" Id="R167fce4ad78d47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528d15c9b64fdf" /><Relationship Type="http://schemas.openxmlformats.org/officeDocument/2006/relationships/notesMaster" Target="/ppt/notesMasters/notesMaster1.xml" Id="Ra1bd615d144b4e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obvious answer for a data center is cheap land far from the city. Our project asks whether that changes for interactive AI inference. A request has to reach the model and return to the user, so the right location can depend on the network and the people it serves. We are testing an urban industrial site as a compact inference node, with slower work sent to a lower-cost regional facility. This is a siting hypothesis, not a measured latency result.</a:t>
            </a:r>
          </a:p>
          <a:p xmlns:a="http://schemas.openxmlformats.org/drawingml/2006/main">
            <a:r>
              <a:t/>
            </a:r>
          </a:p>
          <a:p xmlns:a="http://schemas.openxmlformats.org/drawingml/2006/main">
            <a:r>
              <a:t>Source: `../docs/six_page_story.md`,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Density cuts both ways. Urban land is contested, grid connections can be difficult, and permits and community impacts matter. The same area may also contain users, network facilities, skilled workers, industrial land and customers for waste heat. Our locator measures some physical proximity, especially grid, selected industry and treatment plants. It does not price land or prove a workforce, a heat contract or a fiber route. We therefore treat density as a reason to investigate specific sites, not as an automatic sustainability advantage.</a:t>
            </a:r>
          </a:p>
          <a:p xmlns:a="http://schemas.openxmlformats.org/drawingml/2006/main">
            <a:r>
              <a:t/>
            </a:r>
          </a:p>
          <a:p xmlns:a="http://schemas.openxmlformats.org/drawingml/2006/main">
            <a:r>
              <a:t>Source: `../docs/six_page_story.md`, Page 2; `../README_DATA.md`.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is the project thesis. A prospective inference site sits inside six surrounding systems. Grid assets may support an interconnection. Carrier routes and nearby users make a metro service plausible. Industrial neighbors might use low-grade heat. A treatment plant might support a reclaimed-water cooling design. Reusing an industrial footprint may reduce some new land or material needs. The current project maps candidate points and nearby source records. It does not prove any connection, available megawatts, usable water, heat demand or parcel rights. Each link is a due-diligence question.</a:t>
            </a:r>
          </a:p>
          <a:p xmlns:a="http://schemas.openxmlformats.org/drawingml/2006/main">
            <a:r>
              <a:t/>
            </a:r>
          </a:p>
          <a:p xmlns:a="http://schemas.openxmlformats.org/drawingml/2006/main">
            <a:r>
              <a:t>Source: `../README_DATA.md`, Steps 1–12; `../outputs/validation/validation_report.md`.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we have actually built. We start with 190,976 EPA RE-Powering records. Reported acreage and grid-distance thresholds yield 8,479 screened candidates. Each receives two separate opportunity scores. Infrastructure inheritance uses former power, transmission, substation, land and transport evidence. Industrial symbiosis uses selected manufacturing proximity and treatment-plant opportunity. The explorer exposes source values and a five-kilometer local ecosystem. Connectivity indicators sit in a separate preview, not in either score. The original 50-acre threshold also means compact urban parcels are missing from this candidate pool.</a:t>
            </a:r>
          </a:p>
          <a:p xmlns:a="http://schemas.openxmlformats.org/drawingml/2006/main">
            <a:r>
              <a:t/>
            </a:r>
          </a:p>
          <a:p xmlns:a="http://schemas.openxmlformats.org/drawingml/2006/main">
            <a:r>
              <a:t>Source: `../outputs/validation/step1_summary.json`; `../outputs/validation/step7_summary.json`; `../README_DATA.md`.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axes make tradeoffs visible. Astoria and the Salem-area New England Power Company record both clear the current high-high thresholds. Indian Point has stronger inheritance but less surrounding symbiosis. Davis Street shows the opposite pattern and has an active facility-use question. Scores narrow the field. They do not settle parcel availability or data-center feasibility. The separate connectivity view tells us which facilities to investigate further, but its distance to a listed IXP-hosting building cannot establish user latency or a fiber contract.</a:t>
            </a:r>
          </a:p>
          <a:p xmlns:a="http://schemas.openxmlformats.org/drawingml/2006/main">
            <a:r>
              <a:t/>
            </a:r>
          </a:p>
          <a:p xmlns:a="http://schemas.openxmlformats.org/drawingml/2006/main">
            <a:r>
              <a:t>Source: `../outputs/validation/step6_upper_right.csv`; `../outputs/validation/step11_selected_sites.csv`; `../outputs/validation/power_connectivity_review.md`.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first diligence lead is Astoria in Queens, EPA candidate 40157. It scores 78.46 for infrastructure inheritance and 93.21 for industrial symbiosis. The dataset counts 37 selected manufacturing facilities and three treatment-plant records within five kilometers. Its historical power match is name corroborated. These facts make Astoria worth a closer look. They do not mean that a parcel is free, that the utility can deliver the target load, or that the network route is fast. We recommend a region for verification, not a construction-ready site.</a:t>
            </a:r>
          </a:p>
          <a:p xmlns:a="http://schemas.openxmlformats.org/drawingml/2006/main">
            <a:r>
              <a:t/>
            </a:r>
          </a:p>
          <a:p xmlns:a="http://schemas.openxmlformats.org/drawingml/2006/main">
            <a:r>
              <a:t>Source: `../outputs/validation/step6_upper_right.csv`; `../data/processed/site_features.parquet`; `../outputs/validation/validation_report.md`.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a real feasibility test: identify a parcel, get utility capacity and timing, measure carrier paths to target users, and check heat demand and cooling design. If those gates clear, a metro inference node could be phased with demand and paired with regional offload. Over the longer term, hardware refresh, grid changes, water risk and climate resilience need repeated review. The current locator provides the shortlisting and evidence trail. The 2030 to 2050 path is an implementation vision, not a forecast of carbon or water savings.</a:t>
            </a:r>
          </a:p>
          <a:p xmlns:a="http://schemas.openxmlformats.org/drawingml/2006/main">
            <a:r>
              <a:t/>
            </a:r>
          </a:p>
          <a:p xmlns:a="http://schemas.openxmlformats.org/drawingml/2006/main">
            <a:r>
              <a:t>Source: `../docs/six_page_story.md`, Pages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837ad1f30740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e8e4a871834914" /><Relationship Type="http://schemas.openxmlformats.org/officeDocument/2006/relationships/slideLayout" Target="/ppt/slideLayouts/slideLayout1.xml" Id="R59bb58951aa24e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bb58951aa24e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f113c9a7164fc7" /><Relationship Type="http://schemas.openxmlformats.org/officeDocument/2006/relationships/image" Target="/ppt/media/image.png" Id="R8274653b25fb4710" /><Relationship Type="http://schemas.openxmlformats.org/officeDocument/2006/relationships/notesSlide" Target="/ppt/notesSlides/notesSlide1.xml" Id="Rf433ff11204a41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90b5bd5f964ab8" /><Relationship Type="http://schemas.openxmlformats.org/officeDocument/2006/relationships/notesSlide" Target="/ppt/notesSlides/notesSlide2.xml" Id="R5173b1089e9b42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38deb2ebf9480a" /><Relationship Type="http://schemas.openxmlformats.org/officeDocument/2006/relationships/notesSlide" Target="/ppt/notesSlides/notesSlide3.xml" Id="Rb7ae6d14bf3040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fef4c5ccc84c89" /><Relationship Type="http://schemas.openxmlformats.org/officeDocument/2006/relationships/notesSlide" Target="/ppt/notesSlides/notesSlide4.xml" Id="Rc5fe4242140642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4f61c80ba604884" /><Relationship Type="http://schemas.openxmlformats.org/officeDocument/2006/relationships/notesSlide" Target="/ppt/notesSlides/notesSlide5.xml" Id="R06e7d4cffa3a4a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5465dabcc44f66" /><Relationship Type="http://schemas.openxmlformats.org/officeDocument/2006/relationships/notesSlide" Target="/ppt/notesSlides/notesSlide6.xml" Id="R03bb1c2fee6b47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93b46b1365428c" /><Relationship Type="http://schemas.openxmlformats.org/officeDocument/2006/relationships/notesSlide" Target="/ppt/notesSlides/notesSlide7.xml" Id="R05fd28128e0b484b" /></Relationships>
</file>

<file path=ppt/slides/slide1.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8274653b25fb47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1-title">
            <a:extLst xmlns:a="http://schemas.openxmlformats.org/drawingml/2006/main">
              <a:ext uri="{FF2B5EF4-FFF2-40B4-BE49-F238E27FC236}">
                <a16:creationId xmlns:a16="http://schemas.microsoft.com/office/drawing/2014/main" id="{7B7782BC-F9D8-4A54-B8CF-1F0012EAD225}"/>
              </a:ext>
            </a:extLst>
          </p:cNvPr>
          <p:cNvSpPr>
            <a:spLocks xmlns:a="http://schemas.openxmlformats.org/drawingml/2006/main" noGrp="1"/>
          </p:cNvSpPr>
          <p:nvPr/>
        </p:nvSpPr>
        <p:spPr>
          <a:xfrm xmlns:a="http://schemas.openxmlformats.org/drawingml/2006/main">
            <a:off x="723900" y="1676400"/>
            <a:ext cx="59055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275" b="1">
                <a:solidFill>
                  <a:srgbClr val="EEF6F4"/>
                </a:solidFill>
                <a:latin typeface="Avenir Next"/>
                <a:ea typeface="Avenir Next"/>
                <a:cs typeface="Avenir Next"/>
              </a:defRPr>
            </a:pPr>
            <a:r>
              <a:rPr sz="4275" b="1">
                <a:solidFill>
                  <a:srgbClr val="EEF6F4"/>
                </a:solidFill>
                <a:latin typeface="Avenir Next"/>
                <a:ea typeface="Avenir Next"/>
                <a:cs typeface="Avenir Next"/>
              </a:rPr>
              <a:t>Urban inference can</a:t>
            </a:r>
          </a:p>
          <a:p xmlns:a="http://schemas.openxmlformats.org/drawingml/2006/main">
            <a:pPr algn="l">
              <a:defRPr sz="4275" b="1">
                <a:solidFill>
                  <a:srgbClr val="EEF6F4"/>
                </a:solidFill>
                <a:latin typeface="Avenir Next"/>
                <a:ea typeface="Avenir Next"/>
                <a:cs typeface="Avenir Next"/>
              </a:defRPr>
            </a:pPr>
            <a:r>
              <a:rPr sz="4275" b="1">
                <a:solidFill>
                  <a:srgbClr val="EEF6F4"/>
                </a:solidFill>
                <a:latin typeface="Avenir Next"/>
                <a:ea typeface="Avenir Next"/>
                <a:cs typeface="Avenir Next"/>
              </a:rPr>
              <a:t>belong near demand</a:t>
            </a:r>
          </a:p>
        </p:txBody>
      </p:sp>
      <p:sp>
        <p:nvSpPr>
          <p:cNvPr id="3" name="s1-copy">
            <a:extLst xmlns:a="http://schemas.openxmlformats.org/drawingml/2006/main">
              <a:ext uri="{FF2B5EF4-FFF2-40B4-BE49-F238E27FC236}">
                <a16:creationId xmlns:a16="http://schemas.microsoft.com/office/drawing/2014/main" id="{BAD88EEE-78A4-48FE-8C23-D9653B91AF6D}"/>
              </a:ext>
            </a:extLst>
          </p:cNvPr>
          <p:cNvSpPr>
            <a:spLocks xmlns:a="http://schemas.openxmlformats.org/drawingml/2006/main" noGrp="1"/>
          </p:cNvSpPr>
          <p:nvPr/>
        </p:nvSpPr>
        <p:spPr>
          <a:xfrm xmlns:a="http://schemas.openxmlformats.org/drawingml/2006/main">
            <a:off x="762000" y="4000500"/>
            <a:ext cx="5143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EEF6F4"/>
                </a:solidFill>
                <a:latin typeface="Avenir Next"/>
                <a:ea typeface="Avenir Next"/>
                <a:cs typeface="Avenir Next"/>
              </a:defRPr>
            </a:pPr>
            <a:r>
              <a:rPr sz="2025" b="0">
                <a:solidFill>
                  <a:srgbClr val="EEF6F4"/>
                </a:solidFill>
                <a:latin typeface="Avenir Next"/>
                <a:ea typeface="Avenir Next"/>
                <a:cs typeface="Avenir Next"/>
              </a:rPr>
              <a:t>Cheap land pulls facilities outward. Interactive AI pulls compute toward users. Existing urban infrastructure may make that trade worthwhile.</a:t>
            </a:r>
          </a:p>
        </p:txBody>
      </p:sp>
      <p:sp>
        <p:nvSpPr>
          <p:cNvPr id="4" name="s1-number">
            <a:extLst xmlns:a="http://schemas.openxmlformats.org/drawingml/2006/main">
              <a:ext uri="{FF2B5EF4-FFF2-40B4-BE49-F238E27FC236}">
                <a16:creationId xmlns:a16="http://schemas.microsoft.com/office/drawing/2014/main" id="{C1204D3F-3ACB-4C0B-92FD-1A2634B27D01}"/>
              </a:ext>
            </a:extLst>
          </p:cNvPr>
          <p:cNvSpPr>
            <a:spLocks xmlns:a="http://schemas.openxmlformats.org/drawingml/2006/main" noGrp="1"/>
          </p:cNvSpPr>
          <p:nvPr/>
        </p:nvSpPr>
        <p:spPr>
          <a:xfrm xmlns:a="http://schemas.openxmlformats.org/drawingml/2006/main">
            <a:off x="11125200" y="466725"/>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EEF6F4"/>
                </a:solidFill>
                <a:latin typeface="Avenir Next"/>
                <a:ea typeface="Avenir Next"/>
                <a:cs typeface="Avenir Next"/>
              </a:defRPr>
            </a:pPr>
            <a:r>
              <a:rPr sz="1350" b="0">
                <a:solidFill>
                  <a:srgbClr val="EEF6F4"/>
                </a:solidFill>
                <a:latin typeface="Avenir Next"/>
                <a:ea typeface="Avenir Next"/>
                <a:cs typeface="Avenir Next"/>
              </a:rPr>
              <a:t>01/07</a:t>
            </a:r>
          </a:p>
        </p:txBody>
      </p:sp>
    </p:spTree>
    <p:extLst>
      <p:ext uri="{BB962C8B-B14F-4D97-AF65-F5344CB8AC3E}">
        <p14:creationId xmlns:p14="http://schemas.microsoft.com/office/powerpoint/2010/main" val="1027737399"/>
      </p:ext>
    </p:extLst>
  </p:cSld>
</p:sld>
</file>

<file path=ppt/slides/slide2.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4" name="s2-title">
            <a:extLst xmlns:a="http://schemas.openxmlformats.org/drawingml/2006/main">
              <a:ext uri="{FF2B5EF4-FFF2-40B4-BE49-F238E27FC236}">
                <a16:creationId xmlns:a16="http://schemas.microsoft.com/office/drawing/2014/main" id="{433D5937-AFEA-4380-AE1E-9C6DB0204DC8}"/>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venir Next"/>
                <a:ea typeface="Avenir Next"/>
                <a:cs typeface="Avenir Next"/>
              </a:defRPr>
            </a:pPr>
            <a:r>
              <a:rPr sz="3375" b="1">
                <a:solidFill>
                  <a:srgbClr val="EEF6F4"/>
                </a:solidFill>
                <a:latin typeface="Avenir Next"/>
                <a:ea typeface="Avenir Next"/>
                <a:cs typeface="Avenir Next"/>
              </a:rPr>
              <a:t>Density raises costs and creates synergies</a:t>
            </a:r>
          </a:p>
        </p:txBody>
      </p:sp>
      <p:sp>
        <p:nvSpPr>
          <p:cNvPr id="2" name="s2-number">
            <a:extLst xmlns:a="http://schemas.openxmlformats.org/drawingml/2006/main">
              <a:ext uri="{FF2B5EF4-FFF2-40B4-BE49-F238E27FC236}">
                <a16:creationId xmlns:a16="http://schemas.microsoft.com/office/drawing/2014/main" id="{8FE33053-2663-4E6D-9773-E82D639A1185}"/>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venir Next"/>
                <a:ea typeface="Avenir Next"/>
                <a:cs typeface="Avenir Next"/>
              </a:defRPr>
            </a:pPr>
            <a:r>
              <a:rPr sz="1350" b="0">
                <a:solidFill>
                  <a:srgbClr val="9CB2BC"/>
                </a:solidFill>
                <a:latin typeface="Avenir Next"/>
                <a:ea typeface="Avenir Next"/>
                <a:cs typeface="Avenir Next"/>
              </a:rPr>
              <a:t>02/07</a:t>
            </a:r>
          </a:p>
        </p:txBody>
      </p:sp>
      <p:sp>
        <p:nvSpPr>
          <p:cNvPr id="3" name="">
            <a:extLst xmlns:a="http://schemas.openxmlformats.org/drawingml/2006/main">
              <a:ext uri="{FF2B5EF4-FFF2-40B4-BE49-F238E27FC236}">
                <a16:creationId xmlns:a16="http://schemas.microsoft.com/office/drawing/2014/main" id="{A8516E56-DB43-4F0C-A83D-4A3FF69C54CE}"/>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A56BE6AF-4509-414F-B877-36370A68DFC5}"/>
              </a:ext>
            </a:extLst>
          </p:cNvPr>
          <p:cNvSpPr>
            <a:spLocks xmlns:a="http://schemas.openxmlformats.org/drawingml/2006/main" noGrp="1"/>
          </p:cNvSpPr>
          <p:nvPr/>
        </p:nvSpPr>
        <p:spPr>
          <a:xfrm xmlns:a="http://schemas.openxmlformats.org/drawingml/2006/main">
            <a:off x="6096000" y="2000250"/>
            <a:ext cx="0" cy="361950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5" name="">
            <a:extLst xmlns:a="http://schemas.openxmlformats.org/drawingml/2006/main">
              <a:ext uri="{FF2B5EF4-FFF2-40B4-BE49-F238E27FC236}">
                <a16:creationId xmlns:a16="http://schemas.microsoft.com/office/drawing/2014/main" id="{F0BFE16B-33C4-4CB2-83FE-BB38D7DA5DF9}"/>
              </a:ext>
            </a:extLst>
          </p:cNvPr>
          <p:cNvSpPr>
            <a:spLocks xmlns:a="http://schemas.openxmlformats.org/drawingml/2006/main" noGrp="1"/>
          </p:cNvSpPr>
          <p:nvPr/>
        </p:nvSpPr>
        <p:spPr>
          <a:xfrm xmlns:a="http://schemas.openxmlformats.org/drawingml/2006/main">
            <a:off x="895350" y="198120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0AA6B"/>
                </a:solidFill>
                <a:latin typeface="Avenir Next"/>
                <a:ea typeface="Avenir Next"/>
                <a:cs typeface="Avenir Next"/>
              </a:defRPr>
            </a:pPr>
            <a:r>
              <a:rPr sz="1725" b="1">
                <a:solidFill>
                  <a:srgbClr val="F0AA6B"/>
                </a:solidFill>
                <a:latin typeface="Avenir Next"/>
                <a:ea typeface="Avenir Next"/>
                <a:cs typeface="Avenir Next"/>
              </a:rPr>
              <a:t>COST</a:t>
            </a:r>
          </a:p>
        </p:txBody>
      </p:sp>
      <p:sp>
        <p:nvSpPr>
          <p:cNvPr id="6" name="">
            <a:extLst xmlns:a="http://schemas.openxmlformats.org/drawingml/2006/main">
              <a:ext uri="{FF2B5EF4-FFF2-40B4-BE49-F238E27FC236}">
                <a16:creationId xmlns:a16="http://schemas.microsoft.com/office/drawing/2014/main" id="{63B68434-1501-4CA4-934B-9263CD79167C}"/>
              </a:ext>
            </a:extLst>
          </p:cNvPr>
          <p:cNvSpPr>
            <a:spLocks xmlns:a="http://schemas.openxmlformats.org/drawingml/2006/main" noGrp="1"/>
          </p:cNvSpPr>
          <p:nvPr/>
        </p:nvSpPr>
        <p:spPr>
          <a:xfrm xmlns:a="http://schemas.openxmlformats.org/drawingml/2006/main">
            <a:off x="895350" y="2676525"/>
            <a:ext cx="4619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venir Next"/>
                <a:ea typeface="Avenir Next"/>
                <a:cs typeface="Avenir Next"/>
              </a:defRPr>
            </a:pPr>
            <a:r>
              <a:rPr sz="2775" b="1">
                <a:solidFill>
                  <a:srgbClr val="EEF6F4"/>
                </a:solidFill>
                <a:latin typeface="Avenir Next"/>
                <a:ea typeface="Avenir Next"/>
                <a:cs typeface="Avenir Next"/>
              </a:rPr>
              <a:t>Land</a:t>
            </a:r>
          </a:p>
        </p:txBody>
      </p:sp>
      <p:sp>
        <p:nvSpPr>
          <p:cNvPr id="7" name="">
            <a:extLst xmlns:a="http://schemas.openxmlformats.org/drawingml/2006/main">
              <a:ext uri="{FF2B5EF4-FFF2-40B4-BE49-F238E27FC236}">
                <a16:creationId xmlns:a16="http://schemas.microsoft.com/office/drawing/2014/main" id="{AF9E870A-9B50-42AB-B306-774408ECFC6F}"/>
              </a:ext>
            </a:extLst>
          </p:cNvPr>
          <p:cNvSpPr>
            <a:spLocks xmlns:a="http://schemas.openxmlformats.org/drawingml/2006/main" noGrp="1"/>
          </p:cNvSpPr>
          <p:nvPr/>
        </p:nvSpPr>
        <p:spPr>
          <a:xfrm xmlns:a="http://schemas.openxmlformats.org/drawingml/2006/main">
            <a:off x="895350" y="3429000"/>
            <a:ext cx="4619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venir Next"/>
                <a:ea typeface="Avenir Next"/>
                <a:cs typeface="Avenir Next"/>
              </a:defRPr>
            </a:pPr>
            <a:r>
              <a:rPr sz="2775" b="1">
                <a:solidFill>
                  <a:srgbClr val="EEF6F4"/>
                </a:solidFill>
                <a:latin typeface="Avenir Next"/>
                <a:ea typeface="Avenir Next"/>
                <a:cs typeface="Avenir Next"/>
              </a:rPr>
              <a:t>Grid competition</a:t>
            </a:r>
          </a:p>
        </p:txBody>
      </p:sp>
      <p:sp>
        <p:nvSpPr>
          <p:cNvPr id="8" name="">
            <a:extLst xmlns:a="http://schemas.openxmlformats.org/drawingml/2006/main">
              <a:ext uri="{FF2B5EF4-FFF2-40B4-BE49-F238E27FC236}">
                <a16:creationId xmlns:a16="http://schemas.microsoft.com/office/drawing/2014/main" id="{97F611CD-6B64-4083-9337-FF37F365BDA0}"/>
              </a:ext>
            </a:extLst>
          </p:cNvPr>
          <p:cNvSpPr>
            <a:spLocks xmlns:a="http://schemas.openxmlformats.org/drawingml/2006/main" noGrp="1"/>
          </p:cNvSpPr>
          <p:nvPr/>
        </p:nvSpPr>
        <p:spPr>
          <a:xfrm xmlns:a="http://schemas.openxmlformats.org/drawingml/2006/main">
            <a:off x="895350" y="4181475"/>
            <a:ext cx="4762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venir Next"/>
                <a:ea typeface="Avenir Next"/>
                <a:cs typeface="Avenir Next"/>
              </a:defRPr>
            </a:pPr>
            <a:r>
              <a:rPr sz="2775" b="1">
                <a:solidFill>
                  <a:srgbClr val="EEF6F4"/>
                </a:solidFill>
                <a:latin typeface="Avenir Next"/>
                <a:ea typeface="Avenir Next"/>
                <a:cs typeface="Avenir Next"/>
              </a:rPr>
              <a:t>Permits and community</a:t>
            </a:r>
          </a:p>
        </p:txBody>
      </p:sp>
      <p:sp>
        <p:nvSpPr>
          <p:cNvPr id="9" name="">
            <a:extLst xmlns:a="http://schemas.openxmlformats.org/drawingml/2006/main">
              <a:ext uri="{FF2B5EF4-FFF2-40B4-BE49-F238E27FC236}">
                <a16:creationId xmlns:a16="http://schemas.microsoft.com/office/drawing/2014/main" id="{E98FA4AF-5AF5-4231-B6D3-683D6821CF25}"/>
              </a:ext>
            </a:extLst>
          </p:cNvPr>
          <p:cNvSpPr>
            <a:spLocks xmlns:a="http://schemas.openxmlformats.org/drawingml/2006/main" noGrp="1"/>
          </p:cNvSpPr>
          <p:nvPr/>
        </p:nvSpPr>
        <p:spPr>
          <a:xfrm xmlns:a="http://schemas.openxmlformats.org/drawingml/2006/main">
            <a:off x="6667500" y="1981200"/>
            <a:ext cx="4572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58D8E4"/>
                </a:solidFill>
                <a:latin typeface="Avenir Next"/>
                <a:ea typeface="Avenir Next"/>
                <a:cs typeface="Avenir Next"/>
              </a:defRPr>
            </a:pPr>
            <a:r>
              <a:rPr sz="1725" b="1">
                <a:solidFill>
                  <a:srgbClr val="58D8E4"/>
                </a:solidFill>
                <a:latin typeface="Avenir Next"/>
                <a:ea typeface="Avenir Next"/>
                <a:cs typeface="Avenir Next"/>
              </a:rPr>
              <a:t>SYNERGY</a:t>
            </a:r>
          </a:p>
        </p:txBody>
      </p:sp>
      <p:sp>
        <p:nvSpPr>
          <p:cNvPr id="10" name="">
            <a:extLst xmlns:a="http://schemas.openxmlformats.org/drawingml/2006/main">
              <a:ext uri="{FF2B5EF4-FFF2-40B4-BE49-F238E27FC236}">
                <a16:creationId xmlns:a16="http://schemas.microsoft.com/office/drawing/2014/main" id="{1C6E3A1D-1B47-4F23-BB93-35F60951A284}"/>
              </a:ext>
            </a:extLst>
          </p:cNvPr>
          <p:cNvSpPr>
            <a:spLocks xmlns:a="http://schemas.openxmlformats.org/drawingml/2006/main" noGrp="1"/>
          </p:cNvSpPr>
          <p:nvPr/>
        </p:nvSpPr>
        <p:spPr>
          <a:xfrm xmlns:a="http://schemas.openxmlformats.org/drawingml/2006/main">
            <a:off x="6667500" y="2676525"/>
            <a:ext cx="4667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venir Next"/>
                <a:ea typeface="Avenir Next"/>
                <a:cs typeface="Avenir Next"/>
              </a:defRPr>
            </a:pPr>
            <a:r>
              <a:rPr sz="2775" b="1">
                <a:solidFill>
                  <a:srgbClr val="EEF6F4"/>
                </a:solidFill>
                <a:latin typeface="Avenir Next"/>
                <a:ea typeface="Avenir Next"/>
                <a:cs typeface="Avenir Next"/>
              </a:rPr>
              <a:t>Users and networks</a:t>
            </a:r>
          </a:p>
        </p:txBody>
      </p:sp>
      <p:sp>
        <p:nvSpPr>
          <p:cNvPr id="11" name="">
            <a:extLst xmlns:a="http://schemas.openxmlformats.org/drawingml/2006/main">
              <a:ext uri="{FF2B5EF4-FFF2-40B4-BE49-F238E27FC236}">
                <a16:creationId xmlns:a16="http://schemas.microsoft.com/office/drawing/2014/main" id="{7CCB4B04-4B2E-476E-9D5E-F48EE91363E1}"/>
              </a:ext>
            </a:extLst>
          </p:cNvPr>
          <p:cNvSpPr>
            <a:spLocks xmlns:a="http://schemas.openxmlformats.org/drawingml/2006/main" noGrp="1"/>
          </p:cNvSpPr>
          <p:nvPr/>
        </p:nvSpPr>
        <p:spPr>
          <a:xfrm xmlns:a="http://schemas.openxmlformats.org/drawingml/2006/main">
            <a:off x="6667500" y="3429000"/>
            <a:ext cx="4762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1">
                <a:solidFill>
                  <a:srgbClr val="EEF6F4"/>
                </a:solidFill>
                <a:latin typeface="Avenir Next"/>
                <a:ea typeface="Avenir Next"/>
                <a:cs typeface="Avenir Next"/>
              </a:defRPr>
            </a:pPr>
            <a:r>
              <a:rPr sz="2625" b="1">
                <a:solidFill>
                  <a:srgbClr val="EEF6F4"/>
                </a:solidFill>
                <a:latin typeface="Avenir Next"/>
                <a:ea typeface="Avenir Next"/>
                <a:cs typeface="Avenir Next"/>
              </a:rPr>
              <a:t>Workforce and heat customers</a:t>
            </a:r>
          </a:p>
        </p:txBody>
      </p:sp>
      <p:sp>
        <p:nvSpPr>
          <p:cNvPr id="12" name="">
            <a:extLst xmlns:a="http://schemas.openxmlformats.org/drawingml/2006/main">
              <a:ext uri="{FF2B5EF4-FFF2-40B4-BE49-F238E27FC236}">
                <a16:creationId xmlns:a16="http://schemas.microsoft.com/office/drawing/2014/main" id="{CAFD5D5D-C092-45D3-A2CE-4934DD876B9E}"/>
              </a:ext>
            </a:extLst>
          </p:cNvPr>
          <p:cNvSpPr>
            <a:spLocks xmlns:a="http://schemas.openxmlformats.org/drawingml/2006/main" noGrp="1"/>
          </p:cNvSpPr>
          <p:nvPr/>
        </p:nvSpPr>
        <p:spPr>
          <a:xfrm xmlns:a="http://schemas.openxmlformats.org/drawingml/2006/main">
            <a:off x="6667500" y="4181475"/>
            <a:ext cx="4667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venir Next"/>
                <a:ea typeface="Avenir Next"/>
                <a:cs typeface="Avenir Next"/>
              </a:defRPr>
            </a:pPr>
            <a:r>
              <a:rPr sz="2775" b="1">
                <a:solidFill>
                  <a:srgbClr val="EEF6F4"/>
                </a:solidFill>
                <a:latin typeface="Avenir Next"/>
                <a:ea typeface="Avenir Next"/>
                <a:cs typeface="Avenir Next"/>
              </a:rPr>
              <a:t>Reused industrial sites</a:t>
            </a:r>
          </a:p>
        </p:txBody>
      </p:sp>
      <p:sp>
        <p:nvSpPr>
          <p:cNvPr id="13" name="">
            <a:extLst xmlns:a="http://schemas.openxmlformats.org/drawingml/2006/main">
              <a:ext uri="{FF2B5EF4-FFF2-40B4-BE49-F238E27FC236}">
                <a16:creationId xmlns:a16="http://schemas.microsoft.com/office/drawing/2014/main" id="{85060C82-0BA5-4478-ABE4-7CFFE53BF36A}"/>
              </a:ext>
            </a:extLst>
          </p:cNvPr>
          <p:cNvSpPr>
            <a:spLocks xmlns:a="http://schemas.openxmlformats.org/drawingml/2006/main" noGrp="1"/>
          </p:cNvSpPr>
          <p:nvPr/>
        </p:nvSpPr>
        <p:spPr>
          <a:xfrm xmlns:a="http://schemas.openxmlformats.org/drawingml/2006/main">
            <a:off x="895350" y="57912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9CB2BC"/>
                </a:solidFill>
                <a:latin typeface="Avenir Next"/>
                <a:ea typeface="Avenir Next"/>
                <a:cs typeface="Avenir Next"/>
              </a:defRPr>
            </a:pPr>
            <a:r>
              <a:rPr sz="2175" b="0">
                <a:solidFill>
                  <a:srgbClr val="9CB2BC"/>
                </a:solidFill>
                <a:latin typeface="Avenir Next"/>
                <a:ea typeface="Avenir Next"/>
                <a:cs typeface="Avenir Next"/>
              </a:rPr>
              <a:t>Both sides need site-level proof.</a:t>
            </a:r>
          </a:p>
        </p:txBody>
      </p:sp>
    </p:spTree>
    <p:extLst>
      <p:ext uri="{BB962C8B-B14F-4D97-AF65-F5344CB8AC3E}">
        <p14:creationId xmlns:p14="http://schemas.microsoft.com/office/powerpoint/2010/main" val="369705155"/>
      </p:ext>
    </p:extLst>
  </p:cSld>
</p:sld>
</file>

<file path=ppt/slides/slide3.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25" name="s3-title">
            <a:extLst xmlns:a="http://schemas.openxmlformats.org/drawingml/2006/main">
              <a:ext uri="{FF2B5EF4-FFF2-40B4-BE49-F238E27FC236}">
                <a16:creationId xmlns:a16="http://schemas.microsoft.com/office/drawing/2014/main" id="{627FBF04-7423-41BD-A821-2AB446161037}"/>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venir Next"/>
                <a:ea typeface="Avenir Next"/>
                <a:cs typeface="Avenir Next"/>
              </a:defRPr>
            </a:pPr>
            <a:r>
              <a:rPr sz="3375" b="1">
                <a:solidFill>
                  <a:srgbClr val="EEF6F4"/>
                </a:solidFill>
                <a:latin typeface="Avenir Next"/>
                <a:ea typeface="Avenir Next"/>
                <a:cs typeface="Avenir Next"/>
              </a:rPr>
              <a:t>One site can connect six systems</a:t>
            </a:r>
          </a:p>
        </p:txBody>
      </p:sp>
      <p:sp>
        <p:nvSpPr>
          <p:cNvPr id="2" name="s3-number">
            <a:extLst xmlns:a="http://schemas.openxmlformats.org/drawingml/2006/main">
              <a:ext uri="{FF2B5EF4-FFF2-40B4-BE49-F238E27FC236}">
                <a16:creationId xmlns:a16="http://schemas.microsoft.com/office/drawing/2014/main" id="{7EEDE125-50ED-4513-87CC-40EBEEFEDB98}"/>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venir Next"/>
                <a:ea typeface="Avenir Next"/>
                <a:cs typeface="Avenir Next"/>
              </a:defRPr>
            </a:pPr>
            <a:r>
              <a:rPr sz="1350" b="0">
                <a:solidFill>
                  <a:srgbClr val="9CB2BC"/>
                </a:solidFill>
                <a:latin typeface="Avenir Next"/>
                <a:ea typeface="Avenir Next"/>
                <a:cs typeface="Avenir Next"/>
              </a:rPr>
              <a:t>03/07</a:t>
            </a:r>
          </a:p>
        </p:txBody>
      </p:sp>
      <p:sp>
        <p:nvSpPr>
          <p:cNvPr id="3" name="">
            <a:extLst xmlns:a="http://schemas.openxmlformats.org/drawingml/2006/main">
              <a:ext uri="{FF2B5EF4-FFF2-40B4-BE49-F238E27FC236}">
                <a16:creationId xmlns:a16="http://schemas.microsoft.com/office/drawing/2014/main" id="{1EA9533E-6287-47B0-A475-DC95200E4C1E}"/>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E7DAC82B-F719-49F2-99F8-BF796F1DCD80}"/>
              </a:ext>
            </a:extLst>
          </p:cNvPr>
          <p:cNvSpPr>
            <a:spLocks xmlns:a="http://schemas.openxmlformats.org/drawingml/2006/main" noGrp="1"/>
          </p:cNvSpPr>
          <p:nvPr/>
        </p:nvSpPr>
        <p:spPr>
          <a:xfrm xmlns:a="http://schemas.openxmlformats.org/drawingml/2006/main">
            <a:off x="6096000" y="2209800"/>
            <a:ext cx="0" cy="165735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5" name="">
            <a:extLst xmlns:a="http://schemas.openxmlformats.org/drawingml/2006/main">
              <a:ext uri="{FF2B5EF4-FFF2-40B4-BE49-F238E27FC236}">
                <a16:creationId xmlns:a16="http://schemas.microsoft.com/office/drawing/2014/main" id="{9F52F1AC-DD8D-4A8A-B629-27D46C92BA42}"/>
              </a:ext>
            </a:extLst>
          </p:cNvPr>
          <p:cNvSpPr>
            <a:spLocks xmlns:a="http://schemas.openxmlformats.org/drawingml/2006/main" noGrp="1"/>
          </p:cNvSpPr>
          <p:nvPr/>
        </p:nvSpPr>
        <p:spPr>
          <a:xfrm xmlns:a="http://schemas.openxmlformats.org/drawingml/2006/main">
            <a:off x="2867025" y="3095625"/>
            <a:ext cx="3228975" cy="771525"/>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6" name="">
            <a:extLst xmlns:a="http://schemas.openxmlformats.org/drawingml/2006/main">
              <a:ext uri="{FF2B5EF4-FFF2-40B4-BE49-F238E27FC236}">
                <a16:creationId xmlns:a16="http://schemas.microsoft.com/office/drawing/2014/main" id="{84431042-FFA3-4DB6-A0F4-361A512E40EC}"/>
              </a:ext>
            </a:extLst>
          </p:cNvPr>
          <p:cNvSpPr>
            <a:spLocks xmlns:a="http://schemas.openxmlformats.org/drawingml/2006/main" noGrp="1"/>
          </p:cNvSpPr>
          <p:nvPr/>
        </p:nvSpPr>
        <p:spPr>
          <a:xfrm xmlns:a="http://schemas.openxmlformats.org/drawingml/2006/main">
            <a:off x="6096000" y="3095625"/>
            <a:ext cx="3200400" cy="771525"/>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7" name="">
            <a:extLst xmlns:a="http://schemas.openxmlformats.org/drawingml/2006/main">
              <a:ext uri="{FF2B5EF4-FFF2-40B4-BE49-F238E27FC236}">
                <a16:creationId xmlns:a16="http://schemas.microsoft.com/office/drawing/2014/main" id="{CE6704FD-2EFD-430F-BA37-646F1F9A77A1}"/>
              </a:ext>
            </a:extLst>
          </p:cNvPr>
          <p:cNvSpPr>
            <a:spLocks xmlns:a="http://schemas.openxmlformats.org/drawingml/2006/main" noGrp="1"/>
          </p:cNvSpPr>
          <p:nvPr/>
        </p:nvSpPr>
        <p:spPr>
          <a:xfrm xmlns:a="http://schemas.openxmlformats.org/drawingml/2006/main">
            <a:off x="2876550" y="3867150"/>
            <a:ext cx="3219450" cy="120015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8" name="">
            <a:extLst xmlns:a="http://schemas.openxmlformats.org/drawingml/2006/main">
              <a:ext uri="{FF2B5EF4-FFF2-40B4-BE49-F238E27FC236}">
                <a16:creationId xmlns:a16="http://schemas.microsoft.com/office/drawing/2014/main" id="{5685ABEB-7FD6-43B1-A18E-AA2F77EE2D16}"/>
              </a:ext>
            </a:extLst>
          </p:cNvPr>
          <p:cNvSpPr>
            <a:spLocks xmlns:a="http://schemas.openxmlformats.org/drawingml/2006/main" noGrp="1"/>
          </p:cNvSpPr>
          <p:nvPr/>
        </p:nvSpPr>
        <p:spPr>
          <a:xfrm xmlns:a="http://schemas.openxmlformats.org/drawingml/2006/main">
            <a:off x="6096000" y="3867150"/>
            <a:ext cx="0" cy="156210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9" name="">
            <a:extLst xmlns:a="http://schemas.openxmlformats.org/drawingml/2006/main">
              <a:ext uri="{FF2B5EF4-FFF2-40B4-BE49-F238E27FC236}">
                <a16:creationId xmlns:a16="http://schemas.microsoft.com/office/drawing/2014/main" id="{7B7C3256-AF9E-435E-80DD-55E4012BE8FC}"/>
              </a:ext>
            </a:extLst>
          </p:cNvPr>
          <p:cNvSpPr>
            <a:spLocks xmlns:a="http://schemas.openxmlformats.org/drawingml/2006/main" noGrp="1"/>
          </p:cNvSpPr>
          <p:nvPr/>
        </p:nvSpPr>
        <p:spPr>
          <a:xfrm xmlns:a="http://schemas.openxmlformats.org/drawingml/2006/main">
            <a:off x="6096000" y="3867150"/>
            <a:ext cx="3219450" cy="120015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10" name="">
            <a:extLst xmlns:a="http://schemas.openxmlformats.org/drawingml/2006/main">
              <a:ext uri="{FF2B5EF4-FFF2-40B4-BE49-F238E27FC236}">
                <a16:creationId xmlns:a16="http://schemas.microsoft.com/office/drawing/2014/main" id="{C03F16AE-D7C1-48B2-8831-6BCD81625061}"/>
              </a:ext>
            </a:extLst>
          </p:cNvPr>
          <p:cNvSpPr>
            <a:spLocks xmlns:a="http://schemas.openxmlformats.org/drawingml/2006/main" noGrp="1"/>
          </p:cNvSpPr>
          <p:nvPr/>
        </p:nvSpPr>
        <p:spPr>
          <a:xfrm xmlns:a="http://schemas.openxmlformats.org/drawingml/2006/main">
            <a:off x="5972175" y="2085975"/>
            <a:ext cx="247650" cy="2476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11" name="">
            <a:extLst xmlns:a="http://schemas.openxmlformats.org/drawingml/2006/main">
              <a:ext uri="{FF2B5EF4-FFF2-40B4-BE49-F238E27FC236}">
                <a16:creationId xmlns:a16="http://schemas.microsoft.com/office/drawing/2014/main" id="{5524DDEB-430B-4305-893B-BD58700B832C}"/>
              </a:ext>
            </a:extLst>
          </p:cNvPr>
          <p:cNvSpPr>
            <a:spLocks xmlns:a="http://schemas.openxmlformats.org/drawingml/2006/main" noGrp="1"/>
          </p:cNvSpPr>
          <p:nvPr/>
        </p:nvSpPr>
        <p:spPr>
          <a:xfrm xmlns:a="http://schemas.openxmlformats.org/drawingml/2006/main">
            <a:off x="5067300" y="1743075"/>
            <a:ext cx="20574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EEF6F4"/>
                </a:solidFill>
                <a:latin typeface="Avenir Next"/>
                <a:ea typeface="Avenir Next"/>
                <a:cs typeface="Avenir Next"/>
              </a:defRPr>
            </a:pPr>
            <a:r>
              <a:rPr sz="1650" b="1">
                <a:solidFill>
                  <a:srgbClr val="EEF6F4"/>
                </a:solidFill>
                <a:latin typeface="Avenir Next"/>
                <a:ea typeface="Avenir Next"/>
                <a:cs typeface="Avenir Next"/>
              </a:rPr>
              <a:t>GRID ASSETS</a:t>
            </a:r>
          </a:p>
        </p:txBody>
      </p:sp>
      <p:sp>
        <p:nvSpPr>
          <p:cNvPr id="12" name="">
            <a:extLst xmlns:a="http://schemas.openxmlformats.org/drawingml/2006/main">
              <a:ext uri="{FF2B5EF4-FFF2-40B4-BE49-F238E27FC236}">
                <a16:creationId xmlns:a16="http://schemas.microsoft.com/office/drawing/2014/main" id="{C72E3125-D154-4DE1-B857-FD5A733F5AE7}"/>
              </a:ext>
            </a:extLst>
          </p:cNvPr>
          <p:cNvSpPr>
            <a:spLocks xmlns:a="http://schemas.openxmlformats.org/drawingml/2006/main" noGrp="1"/>
          </p:cNvSpPr>
          <p:nvPr/>
        </p:nvSpPr>
        <p:spPr>
          <a:xfrm xmlns:a="http://schemas.openxmlformats.org/drawingml/2006/main">
            <a:off x="2743200" y="2971800"/>
            <a:ext cx="247650" cy="2476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13" name="">
            <a:extLst xmlns:a="http://schemas.openxmlformats.org/drawingml/2006/main">
              <a:ext uri="{FF2B5EF4-FFF2-40B4-BE49-F238E27FC236}">
                <a16:creationId xmlns:a16="http://schemas.microsoft.com/office/drawing/2014/main" id="{937454B7-53C0-43FC-99E8-DB6056594008}"/>
              </a:ext>
            </a:extLst>
          </p:cNvPr>
          <p:cNvSpPr>
            <a:spLocks xmlns:a="http://schemas.openxmlformats.org/drawingml/2006/main" noGrp="1"/>
          </p:cNvSpPr>
          <p:nvPr/>
        </p:nvSpPr>
        <p:spPr>
          <a:xfrm xmlns:a="http://schemas.openxmlformats.org/drawingml/2006/main">
            <a:off x="1000125" y="2762250"/>
            <a:ext cx="2152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venir Next"/>
                <a:ea typeface="Avenir Next"/>
                <a:cs typeface="Avenir Next"/>
              </a:defRPr>
            </a:pPr>
            <a:r>
              <a:rPr sz="1650" b="1">
                <a:solidFill>
                  <a:srgbClr val="EEF6F4"/>
                </a:solidFill>
                <a:latin typeface="Avenir Next"/>
                <a:ea typeface="Avenir Next"/>
                <a:cs typeface="Avenir Next"/>
              </a:rPr>
              <a:t>CARRIER ROUTES</a:t>
            </a:r>
          </a:p>
        </p:txBody>
      </p:sp>
      <p:sp>
        <p:nvSpPr>
          <p:cNvPr id="14" name="">
            <a:extLst xmlns:a="http://schemas.openxmlformats.org/drawingml/2006/main">
              <a:ext uri="{FF2B5EF4-FFF2-40B4-BE49-F238E27FC236}">
                <a16:creationId xmlns:a16="http://schemas.microsoft.com/office/drawing/2014/main" id="{7F931A37-9BAC-4441-9108-90A6423FAE4F}"/>
              </a:ext>
            </a:extLst>
          </p:cNvPr>
          <p:cNvSpPr>
            <a:spLocks xmlns:a="http://schemas.openxmlformats.org/drawingml/2006/main" noGrp="1"/>
          </p:cNvSpPr>
          <p:nvPr/>
        </p:nvSpPr>
        <p:spPr>
          <a:xfrm xmlns:a="http://schemas.openxmlformats.org/drawingml/2006/main">
            <a:off x="9172575" y="2971800"/>
            <a:ext cx="247650" cy="2476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15" name="">
            <a:extLst xmlns:a="http://schemas.openxmlformats.org/drawingml/2006/main">
              <a:ext uri="{FF2B5EF4-FFF2-40B4-BE49-F238E27FC236}">
                <a16:creationId xmlns:a16="http://schemas.microsoft.com/office/drawing/2014/main" id="{1C228883-1E1A-4EE7-B602-2DA951B41B23}"/>
              </a:ext>
            </a:extLst>
          </p:cNvPr>
          <p:cNvSpPr>
            <a:spLocks xmlns:a="http://schemas.openxmlformats.org/drawingml/2006/main" noGrp="1"/>
          </p:cNvSpPr>
          <p:nvPr/>
        </p:nvSpPr>
        <p:spPr>
          <a:xfrm xmlns:a="http://schemas.openxmlformats.org/drawingml/2006/main">
            <a:off x="9315450" y="2743200"/>
            <a:ext cx="2000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venir Next"/>
                <a:ea typeface="Avenir Next"/>
                <a:cs typeface="Avenir Next"/>
              </a:defRPr>
            </a:pPr>
            <a:r>
              <a:rPr sz="1650" b="1">
                <a:solidFill>
                  <a:srgbClr val="EEF6F4"/>
                </a:solidFill>
                <a:latin typeface="Avenir Next"/>
                <a:ea typeface="Avenir Next"/>
                <a:cs typeface="Avenir Next"/>
              </a:rPr>
              <a:t>INFERENCE USERS</a:t>
            </a:r>
          </a:p>
        </p:txBody>
      </p:sp>
      <p:sp>
        <p:nvSpPr>
          <p:cNvPr id="16" name="">
            <a:extLst xmlns:a="http://schemas.openxmlformats.org/drawingml/2006/main">
              <a:ext uri="{FF2B5EF4-FFF2-40B4-BE49-F238E27FC236}">
                <a16:creationId xmlns:a16="http://schemas.microsoft.com/office/drawing/2014/main" id="{39726871-274A-4539-8B74-AA932BC53BB3}"/>
              </a:ext>
            </a:extLst>
          </p:cNvPr>
          <p:cNvSpPr>
            <a:spLocks xmlns:a="http://schemas.openxmlformats.org/drawingml/2006/main" noGrp="1"/>
          </p:cNvSpPr>
          <p:nvPr/>
        </p:nvSpPr>
        <p:spPr>
          <a:xfrm xmlns:a="http://schemas.openxmlformats.org/drawingml/2006/main">
            <a:off x="2752725" y="4943475"/>
            <a:ext cx="247650" cy="2476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17" name="">
            <a:extLst xmlns:a="http://schemas.openxmlformats.org/drawingml/2006/main">
              <a:ext uri="{FF2B5EF4-FFF2-40B4-BE49-F238E27FC236}">
                <a16:creationId xmlns:a16="http://schemas.microsoft.com/office/drawing/2014/main" id="{8D73A62E-C7DB-4E08-BB0C-D50AC5E639C8}"/>
              </a:ext>
            </a:extLst>
          </p:cNvPr>
          <p:cNvSpPr>
            <a:spLocks xmlns:a="http://schemas.openxmlformats.org/drawingml/2006/main" noGrp="1"/>
          </p:cNvSpPr>
          <p:nvPr/>
        </p:nvSpPr>
        <p:spPr>
          <a:xfrm xmlns:a="http://schemas.openxmlformats.org/drawingml/2006/main">
            <a:off x="1019175" y="5095875"/>
            <a:ext cx="2190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venir Next"/>
                <a:ea typeface="Avenir Next"/>
                <a:cs typeface="Avenir Next"/>
              </a:defRPr>
            </a:pPr>
            <a:r>
              <a:rPr sz="1650" b="1">
                <a:solidFill>
                  <a:srgbClr val="EEF6F4"/>
                </a:solidFill>
                <a:latin typeface="Avenir Next"/>
                <a:ea typeface="Avenir Next"/>
                <a:cs typeface="Avenir Next"/>
              </a:rPr>
              <a:t>HEAT CUSTOMERS</a:t>
            </a:r>
          </a:p>
        </p:txBody>
      </p:sp>
      <p:sp>
        <p:nvSpPr>
          <p:cNvPr id="18" name="">
            <a:extLst xmlns:a="http://schemas.openxmlformats.org/drawingml/2006/main">
              <a:ext uri="{FF2B5EF4-FFF2-40B4-BE49-F238E27FC236}">
                <a16:creationId xmlns:a16="http://schemas.microsoft.com/office/drawing/2014/main" id="{3D102F19-D532-4511-B669-4D98F99FBDD0}"/>
              </a:ext>
            </a:extLst>
          </p:cNvPr>
          <p:cNvSpPr>
            <a:spLocks xmlns:a="http://schemas.openxmlformats.org/drawingml/2006/main" noGrp="1"/>
          </p:cNvSpPr>
          <p:nvPr/>
        </p:nvSpPr>
        <p:spPr>
          <a:xfrm xmlns:a="http://schemas.openxmlformats.org/drawingml/2006/main">
            <a:off x="5972175" y="5305425"/>
            <a:ext cx="247650" cy="2476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19" name="">
            <a:extLst xmlns:a="http://schemas.openxmlformats.org/drawingml/2006/main">
              <a:ext uri="{FF2B5EF4-FFF2-40B4-BE49-F238E27FC236}">
                <a16:creationId xmlns:a16="http://schemas.microsoft.com/office/drawing/2014/main" id="{EE3F5A17-8DC0-41C3-B082-349416464A70}"/>
              </a:ext>
            </a:extLst>
          </p:cNvPr>
          <p:cNvSpPr>
            <a:spLocks xmlns:a="http://schemas.openxmlformats.org/drawingml/2006/main" noGrp="1"/>
          </p:cNvSpPr>
          <p:nvPr/>
        </p:nvSpPr>
        <p:spPr>
          <a:xfrm xmlns:a="http://schemas.openxmlformats.org/drawingml/2006/main">
            <a:off x="4991100" y="5762625"/>
            <a:ext cx="2209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EEF6F4"/>
                </a:solidFill>
                <a:latin typeface="Avenir Next"/>
                <a:ea typeface="Avenir Next"/>
                <a:cs typeface="Avenir Next"/>
              </a:defRPr>
            </a:pPr>
            <a:r>
              <a:rPr sz="1650" b="1">
                <a:solidFill>
                  <a:srgbClr val="EEF6F4"/>
                </a:solidFill>
                <a:latin typeface="Avenir Next"/>
                <a:ea typeface="Avenir Next"/>
                <a:cs typeface="Avenir Next"/>
              </a:rPr>
              <a:t>TREATMENT WATER</a:t>
            </a:r>
          </a:p>
        </p:txBody>
      </p:sp>
      <p:sp>
        <p:nvSpPr>
          <p:cNvPr id="20" name="">
            <a:extLst xmlns:a="http://schemas.openxmlformats.org/drawingml/2006/main">
              <a:ext uri="{FF2B5EF4-FFF2-40B4-BE49-F238E27FC236}">
                <a16:creationId xmlns:a16="http://schemas.microsoft.com/office/drawing/2014/main" id="{8E83C88A-57BF-4E33-A836-D04F49A8F24C}"/>
              </a:ext>
            </a:extLst>
          </p:cNvPr>
          <p:cNvSpPr>
            <a:spLocks xmlns:a="http://schemas.openxmlformats.org/drawingml/2006/main" noGrp="1"/>
          </p:cNvSpPr>
          <p:nvPr/>
        </p:nvSpPr>
        <p:spPr>
          <a:xfrm xmlns:a="http://schemas.openxmlformats.org/drawingml/2006/main">
            <a:off x="9191625" y="4943475"/>
            <a:ext cx="247650" cy="2476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21" name="">
            <a:extLst xmlns:a="http://schemas.openxmlformats.org/drawingml/2006/main">
              <a:ext uri="{FF2B5EF4-FFF2-40B4-BE49-F238E27FC236}">
                <a16:creationId xmlns:a16="http://schemas.microsoft.com/office/drawing/2014/main" id="{C6A66389-70C4-4B23-BB0D-1F1B580A2057}"/>
              </a:ext>
            </a:extLst>
          </p:cNvPr>
          <p:cNvSpPr>
            <a:spLocks xmlns:a="http://schemas.openxmlformats.org/drawingml/2006/main" noGrp="1"/>
          </p:cNvSpPr>
          <p:nvPr/>
        </p:nvSpPr>
        <p:spPr>
          <a:xfrm xmlns:a="http://schemas.openxmlformats.org/drawingml/2006/main">
            <a:off x="9458325" y="5095875"/>
            <a:ext cx="2000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venir Next"/>
                <a:ea typeface="Avenir Next"/>
                <a:cs typeface="Avenir Next"/>
              </a:defRPr>
            </a:pPr>
            <a:r>
              <a:rPr sz="1650" b="1">
                <a:solidFill>
                  <a:srgbClr val="EEF6F4"/>
                </a:solidFill>
                <a:latin typeface="Avenir Next"/>
                <a:ea typeface="Avenir Next"/>
                <a:cs typeface="Avenir Next"/>
              </a:rPr>
              <a:t>REUSED LAND</a:t>
            </a:r>
          </a:p>
        </p:txBody>
      </p:sp>
      <p:sp>
        <p:nvSpPr>
          <p:cNvPr id="22" name="">
            <a:extLst xmlns:a="http://schemas.openxmlformats.org/drawingml/2006/main">
              <a:ext uri="{FF2B5EF4-FFF2-40B4-BE49-F238E27FC236}">
                <a16:creationId xmlns:a16="http://schemas.microsoft.com/office/drawing/2014/main" id="{12603789-DE92-4CFF-9096-7C7D44E050ED}"/>
              </a:ext>
            </a:extLst>
          </p:cNvPr>
          <p:cNvSpPr>
            <a:spLocks xmlns:a="http://schemas.openxmlformats.org/drawingml/2006/main" noGrp="1"/>
          </p:cNvSpPr>
          <p:nvPr/>
        </p:nvSpPr>
        <p:spPr>
          <a:xfrm xmlns:a="http://schemas.openxmlformats.org/drawingml/2006/main">
            <a:off x="5229225" y="3000375"/>
            <a:ext cx="1733550" cy="1733550"/>
          </a:xfrm>
          <a:prstGeom xmlns:a="http://schemas.openxmlformats.org/drawingml/2006/main" prst="ellipse">
            <a:avLst/>
          </a:prstGeom>
          <a:solidFill xmlns:a="http://schemas.openxmlformats.org/drawingml/2006/main">
            <a:srgbClr val="17303B"/>
          </a:solidFill>
          <a:ln xmlns:a="http://schemas.openxmlformats.org/drawingml/2006/main" w="28575">
            <a:solidFill>
              <a:srgbClr val="58D8E4"/>
            </a:solidFill>
            <a:prstDash val="solid"/>
          </a:ln>
        </p:spPr>
      </p:sp>
      <p:sp>
        <p:nvSpPr>
          <p:cNvPr id="23" name="">
            <a:extLst xmlns:a="http://schemas.openxmlformats.org/drawingml/2006/main">
              <a:ext uri="{FF2B5EF4-FFF2-40B4-BE49-F238E27FC236}">
                <a16:creationId xmlns:a16="http://schemas.microsoft.com/office/drawing/2014/main" id="{A698D33B-F476-4324-BB32-53F24DFF852F}"/>
              </a:ext>
            </a:extLst>
          </p:cNvPr>
          <p:cNvSpPr>
            <a:spLocks xmlns:a="http://schemas.openxmlformats.org/drawingml/2006/main" noGrp="1"/>
          </p:cNvSpPr>
          <p:nvPr/>
        </p:nvSpPr>
        <p:spPr>
          <a:xfrm xmlns:a="http://schemas.openxmlformats.org/drawingml/2006/main">
            <a:off x="5257800" y="3314700"/>
            <a:ext cx="16764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EEF6F4"/>
                </a:solidFill>
                <a:latin typeface="Avenir Next"/>
                <a:ea typeface="Avenir Next"/>
                <a:cs typeface="Avenir Next"/>
              </a:defRPr>
            </a:pPr>
            <a:r>
              <a:rPr sz="2100" b="1">
                <a:solidFill>
                  <a:srgbClr val="EEF6F4"/>
                </a:solidFill>
                <a:latin typeface="Avenir Next"/>
                <a:ea typeface="Avenir Next"/>
                <a:cs typeface="Avenir Next"/>
              </a:rPr>
              <a:t>URBAN</a:t>
            </a:r>
          </a:p>
          <a:p xmlns:a="http://schemas.openxmlformats.org/drawingml/2006/main">
            <a:pPr algn="ctr">
              <a:defRPr sz="2100" b="1">
                <a:solidFill>
                  <a:srgbClr val="EEF6F4"/>
                </a:solidFill>
                <a:latin typeface="Avenir Next"/>
                <a:ea typeface="Avenir Next"/>
                <a:cs typeface="Avenir Next"/>
              </a:defRPr>
            </a:pPr>
            <a:r>
              <a:rPr sz="2100" b="1">
                <a:solidFill>
                  <a:srgbClr val="EEF6F4"/>
                </a:solidFill>
                <a:latin typeface="Avenir Next"/>
                <a:ea typeface="Avenir Next"/>
                <a:cs typeface="Avenir Next"/>
              </a:rPr>
              <a:t>INFERENCE</a:t>
            </a:r>
          </a:p>
          <a:p xmlns:a="http://schemas.openxmlformats.org/drawingml/2006/main">
            <a:pPr algn="ctr">
              <a:defRPr sz="2100" b="1">
                <a:solidFill>
                  <a:srgbClr val="EEF6F4"/>
                </a:solidFill>
                <a:latin typeface="Avenir Next"/>
                <a:ea typeface="Avenir Next"/>
                <a:cs typeface="Avenir Next"/>
              </a:defRPr>
            </a:pPr>
            <a:r>
              <a:rPr sz="2100" b="1">
                <a:solidFill>
                  <a:srgbClr val="EEF6F4"/>
                </a:solidFill>
                <a:latin typeface="Avenir Next"/>
                <a:ea typeface="Avenir Next"/>
                <a:cs typeface="Avenir Next"/>
              </a:rPr>
              <a:t>SITE</a:t>
            </a:r>
          </a:p>
        </p:txBody>
      </p:sp>
      <p:sp>
        <p:nvSpPr>
          <p:cNvPr id="24" name="">
            <a:extLst xmlns:a="http://schemas.openxmlformats.org/drawingml/2006/main">
              <a:ext uri="{FF2B5EF4-FFF2-40B4-BE49-F238E27FC236}">
                <a16:creationId xmlns:a16="http://schemas.microsoft.com/office/drawing/2014/main" id="{55C21691-BEE6-4D01-92E1-B6D53CA1618B}"/>
              </a:ext>
            </a:extLst>
          </p:cNvPr>
          <p:cNvSpPr>
            <a:spLocks xmlns:a="http://schemas.openxmlformats.org/drawingml/2006/main" noGrp="1"/>
          </p:cNvSpPr>
          <p:nvPr/>
        </p:nvSpPr>
        <p:spPr>
          <a:xfrm xmlns:a="http://schemas.openxmlformats.org/drawingml/2006/main">
            <a:off x="781050" y="62293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0">
                <a:solidFill>
                  <a:srgbClr val="9CB2BC"/>
                </a:solidFill>
                <a:latin typeface="Avenir Next"/>
                <a:ea typeface="Avenir Next"/>
                <a:cs typeface="Avenir Next"/>
              </a:defRPr>
            </a:pPr>
            <a:r>
              <a:rPr sz="1650" b="0">
                <a:solidFill>
                  <a:srgbClr val="9CB2BC"/>
                </a:solidFill>
                <a:latin typeface="Avenir Next"/>
                <a:ea typeface="Avenir Next"/>
                <a:cs typeface="Avenir Next"/>
              </a:rPr>
              <a:t>Proximity starts the case. Engineering and contracts complete it.</a:t>
            </a:r>
          </a:p>
        </p:txBody>
      </p:sp>
    </p:spTree>
    <p:extLst>
      <p:ext uri="{BB962C8B-B14F-4D97-AF65-F5344CB8AC3E}">
        <p14:creationId xmlns:p14="http://schemas.microsoft.com/office/powerpoint/2010/main" val="1187848410"/>
      </p:ext>
    </p:extLst>
  </p:cSld>
</p:sld>
</file>

<file path=ppt/slides/slide4.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4" name="s4-title">
            <a:extLst xmlns:a="http://schemas.openxmlformats.org/drawingml/2006/main">
              <a:ext uri="{FF2B5EF4-FFF2-40B4-BE49-F238E27FC236}">
                <a16:creationId xmlns:a16="http://schemas.microsoft.com/office/drawing/2014/main" id="{0E904ECF-228E-4C83-AA38-7D385592B40A}"/>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venir Next"/>
                <a:ea typeface="Avenir Next"/>
                <a:cs typeface="Avenir Next"/>
              </a:defRPr>
            </a:pPr>
            <a:r>
              <a:rPr sz="3375" b="1">
                <a:solidFill>
                  <a:srgbClr val="EEF6F4"/>
                </a:solidFill>
                <a:latin typeface="Avenir Next"/>
                <a:ea typeface="Avenir Next"/>
                <a:cs typeface="Avenir Next"/>
              </a:rPr>
              <a:t>The locator turns national records into site evidence</a:t>
            </a:r>
          </a:p>
        </p:txBody>
      </p:sp>
      <p:sp>
        <p:nvSpPr>
          <p:cNvPr id="2" name="s4-number">
            <a:extLst xmlns:a="http://schemas.openxmlformats.org/drawingml/2006/main">
              <a:ext uri="{FF2B5EF4-FFF2-40B4-BE49-F238E27FC236}">
                <a16:creationId xmlns:a16="http://schemas.microsoft.com/office/drawing/2014/main" id="{5A7F3B3D-C8FF-4B32-8E44-136C218C321A}"/>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venir Next"/>
                <a:ea typeface="Avenir Next"/>
                <a:cs typeface="Avenir Next"/>
              </a:defRPr>
            </a:pPr>
            <a:r>
              <a:rPr sz="1350" b="0">
                <a:solidFill>
                  <a:srgbClr val="9CB2BC"/>
                </a:solidFill>
                <a:latin typeface="Avenir Next"/>
                <a:ea typeface="Avenir Next"/>
                <a:cs typeface="Avenir Next"/>
              </a:rPr>
              <a:t>04/07</a:t>
            </a:r>
          </a:p>
        </p:txBody>
      </p:sp>
      <p:sp>
        <p:nvSpPr>
          <p:cNvPr id="3" name="">
            <a:extLst xmlns:a="http://schemas.openxmlformats.org/drawingml/2006/main">
              <a:ext uri="{FF2B5EF4-FFF2-40B4-BE49-F238E27FC236}">
                <a16:creationId xmlns:a16="http://schemas.microsoft.com/office/drawing/2014/main" id="{C2C6022F-D58B-45CC-9FE9-67581AFB888C}"/>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0B238E03-10D2-4201-8B70-DF89B5DD0048}"/>
              </a:ext>
            </a:extLst>
          </p:cNvPr>
          <p:cNvSpPr>
            <a:spLocks xmlns:a="http://schemas.openxmlformats.org/drawingml/2006/main" noGrp="1"/>
          </p:cNvSpPr>
          <p:nvPr/>
        </p:nvSpPr>
        <p:spPr>
          <a:xfrm xmlns:a="http://schemas.openxmlformats.org/drawingml/2006/main">
            <a:off x="866775" y="2019300"/>
            <a:ext cx="42386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825" b="1">
                <a:solidFill>
                  <a:srgbClr val="EEF6F4"/>
                </a:solidFill>
                <a:latin typeface="Avenir Next"/>
                <a:ea typeface="Avenir Next"/>
                <a:cs typeface="Avenir Next"/>
              </a:defRPr>
            </a:pPr>
            <a:r>
              <a:rPr sz="6825" b="1">
                <a:solidFill>
                  <a:srgbClr val="EEF6F4"/>
                </a:solidFill>
                <a:latin typeface="Avenir Next"/>
                <a:ea typeface="Avenir Next"/>
                <a:cs typeface="Avenir Next"/>
              </a:rPr>
              <a:t>190,976</a:t>
            </a:r>
          </a:p>
        </p:txBody>
      </p:sp>
      <p:sp>
        <p:nvSpPr>
          <p:cNvPr id="5" name="">
            <a:extLst xmlns:a="http://schemas.openxmlformats.org/drawingml/2006/main">
              <a:ext uri="{FF2B5EF4-FFF2-40B4-BE49-F238E27FC236}">
                <a16:creationId xmlns:a16="http://schemas.microsoft.com/office/drawing/2014/main" id="{4551877D-A355-49D9-8B2D-5A89DC2A7AC7}"/>
              </a:ext>
            </a:extLst>
          </p:cNvPr>
          <p:cNvSpPr>
            <a:spLocks xmlns:a="http://schemas.openxmlformats.org/drawingml/2006/main" noGrp="1"/>
          </p:cNvSpPr>
          <p:nvPr/>
        </p:nvSpPr>
        <p:spPr>
          <a:xfrm xmlns:a="http://schemas.openxmlformats.org/drawingml/2006/main">
            <a:off x="895350" y="31623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9CB2BC"/>
                </a:solidFill>
                <a:latin typeface="Avenir Next"/>
                <a:ea typeface="Avenir Next"/>
                <a:cs typeface="Avenir Next"/>
              </a:defRPr>
            </a:pPr>
            <a:r>
              <a:rPr sz="1875" b="0">
                <a:solidFill>
                  <a:srgbClr val="9CB2BC"/>
                </a:solidFill>
                <a:latin typeface="Avenir Next"/>
                <a:ea typeface="Avenir Next"/>
                <a:cs typeface="Avenir Next"/>
              </a:rPr>
              <a:t>EPA site records</a:t>
            </a:r>
          </a:p>
        </p:txBody>
      </p:sp>
      <p:sp>
        <p:nvSpPr>
          <p:cNvPr id="6" name="">
            <a:extLst xmlns:a="http://schemas.openxmlformats.org/drawingml/2006/main">
              <a:ext uri="{FF2B5EF4-FFF2-40B4-BE49-F238E27FC236}">
                <a16:creationId xmlns:a16="http://schemas.microsoft.com/office/drawing/2014/main" id="{6134A0E5-6A2E-42CE-BC7E-B45079C3254A}"/>
              </a:ext>
            </a:extLst>
          </p:cNvPr>
          <p:cNvSpPr>
            <a:spLocks xmlns:a="http://schemas.openxmlformats.org/drawingml/2006/main" noGrp="1"/>
          </p:cNvSpPr>
          <p:nvPr/>
        </p:nvSpPr>
        <p:spPr>
          <a:xfrm xmlns:a="http://schemas.openxmlformats.org/drawingml/2006/main">
            <a:off x="5191125" y="2905125"/>
            <a:ext cx="1009650" cy="0"/>
          </a:xfrm>
          <a:prstGeom xmlns:a="http://schemas.openxmlformats.org/drawingml/2006/main" prst="line">
            <a:avLst/>
          </a:prstGeom>
          <a:noFill xmlns:a="http://schemas.openxmlformats.org/drawingml/2006/main"/>
          <a:ln xmlns:a="http://schemas.openxmlformats.org/drawingml/2006/main" w="38100">
            <a:solidFill>
              <a:srgbClr val="58D8E4"/>
            </a:solidFill>
            <a:prstDash val="solid"/>
          </a:ln>
        </p:spPr>
      </p:sp>
      <p:sp>
        <p:nvSpPr>
          <p:cNvPr id="7" name="">
            <a:extLst xmlns:a="http://schemas.openxmlformats.org/drawingml/2006/main">
              <a:ext uri="{FF2B5EF4-FFF2-40B4-BE49-F238E27FC236}">
                <a16:creationId xmlns:a16="http://schemas.microsoft.com/office/drawing/2014/main" id="{7715CD54-B815-44E5-8F5F-A0598749BCA6}"/>
              </a:ext>
            </a:extLst>
          </p:cNvPr>
          <p:cNvSpPr>
            <a:spLocks xmlns:a="http://schemas.openxmlformats.org/drawingml/2006/main" noGrp="1"/>
          </p:cNvSpPr>
          <p:nvPr/>
        </p:nvSpPr>
        <p:spPr>
          <a:xfrm xmlns:a="http://schemas.openxmlformats.org/drawingml/2006/main">
            <a:off x="6467475" y="2019300"/>
            <a:ext cx="4381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825" b="1">
                <a:solidFill>
                  <a:srgbClr val="58D8E4"/>
                </a:solidFill>
                <a:latin typeface="Avenir Next"/>
                <a:ea typeface="Avenir Next"/>
                <a:cs typeface="Avenir Next"/>
              </a:defRPr>
            </a:pPr>
            <a:r>
              <a:rPr sz="6825" b="1">
                <a:solidFill>
                  <a:srgbClr val="58D8E4"/>
                </a:solidFill>
                <a:latin typeface="Avenir Next"/>
                <a:ea typeface="Avenir Next"/>
                <a:cs typeface="Avenir Next"/>
              </a:rPr>
              <a:t>8,479</a:t>
            </a:r>
          </a:p>
        </p:txBody>
      </p:sp>
      <p:sp>
        <p:nvSpPr>
          <p:cNvPr id="8" name="">
            <a:extLst xmlns:a="http://schemas.openxmlformats.org/drawingml/2006/main">
              <a:ext uri="{FF2B5EF4-FFF2-40B4-BE49-F238E27FC236}">
                <a16:creationId xmlns:a16="http://schemas.microsoft.com/office/drawing/2014/main" id="{2204B697-7CFD-4343-869D-093FFFC25D11}"/>
              </a:ext>
            </a:extLst>
          </p:cNvPr>
          <p:cNvSpPr>
            <a:spLocks xmlns:a="http://schemas.openxmlformats.org/drawingml/2006/main" noGrp="1"/>
          </p:cNvSpPr>
          <p:nvPr/>
        </p:nvSpPr>
        <p:spPr>
          <a:xfrm xmlns:a="http://schemas.openxmlformats.org/drawingml/2006/main">
            <a:off x="6524625" y="3162300"/>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9CB2BC"/>
                </a:solidFill>
                <a:latin typeface="Avenir Next"/>
                <a:ea typeface="Avenir Next"/>
                <a:cs typeface="Avenir Next"/>
              </a:defRPr>
            </a:pPr>
            <a:r>
              <a:rPr sz="1875" b="0">
                <a:solidFill>
                  <a:srgbClr val="9CB2BC"/>
                </a:solidFill>
                <a:latin typeface="Avenir Next"/>
                <a:ea typeface="Avenir Next"/>
                <a:cs typeface="Avenir Next"/>
              </a:rPr>
              <a:t>screened candidates</a:t>
            </a:r>
          </a:p>
        </p:txBody>
      </p:sp>
      <p:sp>
        <p:nvSpPr>
          <p:cNvPr id="9" name="">
            <a:extLst xmlns:a="http://schemas.openxmlformats.org/drawingml/2006/main">
              <a:ext uri="{FF2B5EF4-FFF2-40B4-BE49-F238E27FC236}">
                <a16:creationId xmlns:a16="http://schemas.microsoft.com/office/drawing/2014/main" id="{3AF91FA4-E1DA-43AF-824D-E9C430D57589}"/>
              </a:ext>
            </a:extLst>
          </p:cNvPr>
          <p:cNvSpPr>
            <a:spLocks xmlns:a="http://schemas.openxmlformats.org/drawingml/2006/main" noGrp="1"/>
          </p:cNvSpPr>
          <p:nvPr/>
        </p:nvSpPr>
        <p:spPr>
          <a:xfrm xmlns:a="http://schemas.openxmlformats.org/drawingml/2006/main">
            <a:off x="876300" y="4000500"/>
            <a:ext cx="10448925"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10" name="">
            <a:extLst xmlns:a="http://schemas.openxmlformats.org/drawingml/2006/main">
              <a:ext uri="{FF2B5EF4-FFF2-40B4-BE49-F238E27FC236}">
                <a16:creationId xmlns:a16="http://schemas.microsoft.com/office/drawing/2014/main" id="{9E70101A-23CC-4768-B8E8-7FEDD723E460}"/>
              </a:ext>
            </a:extLst>
          </p:cNvPr>
          <p:cNvSpPr>
            <a:spLocks xmlns:a="http://schemas.openxmlformats.org/drawingml/2006/main" noGrp="1"/>
          </p:cNvSpPr>
          <p:nvPr/>
        </p:nvSpPr>
        <p:spPr>
          <a:xfrm xmlns:a="http://schemas.openxmlformats.org/drawingml/2006/main">
            <a:off x="923925" y="4314825"/>
            <a:ext cx="419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EEF6F4"/>
                </a:solidFill>
                <a:latin typeface="Avenir Next"/>
                <a:ea typeface="Avenir Next"/>
                <a:cs typeface="Avenir Next"/>
              </a:defRPr>
            </a:pPr>
            <a:r>
              <a:rPr sz="2400" b="1">
                <a:solidFill>
                  <a:srgbClr val="EEF6F4"/>
                </a:solidFill>
                <a:latin typeface="Avenir Next"/>
                <a:ea typeface="Avenir Next"/>
                <a:cs typeface="Avenir Next"/>
              </a:rPr>
              <a:t>INFRASTRUCTURE</a:t>
            </a:r>
          </a:p>
          <a:p xmlns:a="http://schemas.openxmlformats.org/drawingml/2006/main">
            <a:pPr algn="l">
              <a:defRPr sz="2400" b="1">
                <a:solidFill>
                  <a:srgbClr val="EEF6F4"/>
                </a:solidFill>
                <a:latin typeface="Avenir Next"/>
                <a:ea typeface="Avenir Next"/>
                <a:cs typeface="Avenir Next"/>
              </a:defRPr>
            </a:pPr>
            <a:r>
              <a:rPr sz="2400" b="1">
                <a:solidFill>
                  <a:srgbClr val="EEF6F4"/>
                </a:solidFill>
                <a:latin typeface="Avenir Next"/>
                <a:ea typeface="Avenir Next"/>
                <a:cs typeface="Avenir Next"/>
              </a:rPr>
              <a:t>INHERITANCE</a:t>
            </a:r>
          </a:p>
        </p:txBody>
      </p:sp>
      <p:sp>
        <p:nvSpPr>
          <p:cNvPr id="11" name="">
            <a:extLst xmlns:a="http://schemas.openxmlformats.org/drawingml/2006/main">
              <a:ext uri="{FF2B5EF4-FFF2-40B4-BE49-F238E27FC236}">
                <a16:creationId xmlns:a16="http://schemas.microsoft.com/office/drawing/2014/main" id="{430DD375-5243-4804-80E5-3C2A67B99E89}"/>
              </a:ext>
            </a:extLst>
          </p:cNvPr>
          <p:cNvSpPr>
            <a:spLocks xmlns:a="http://schemas.openxmlformats.org/drawingml/2006/main" noGrp="1"/>
          </p:cNvSpPr>
          <p:nvPr/>
        </p:nvSpPr>
        <p:spPr>
          <a:xfrm xmlns:a="http://schemas.openxmlformats.org/drawingml/2006/main">
            <a:off x="6486525" y="4314825"/>
            <a:ext cx="409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EEF6F4"/>
                </a:solidFill>
                <a:latin typeface="Avenir Next"/>
                <a:ea typeface="Avenir Next"/>
                <a:cs typeface="Avenir Next"/>
              </a:defRPr>
            </a:pPr>
            <a:r>
              <a:rPr sz="2400" b="1">
                <a:solidFill>
                  <a:srgbClr val="EEF6F4"/>
                </a:solidFill>
                <a:latin typeface="Avenir Next"/>
                <a:ea typeface="Avenir Next"/>
                <a:cs typeface="Avenir Next"/>
              </a:rPr>
              <a:t>INDUSTRIAL</a:t>
            </a:r>
          </a:p>
          <a:p xmlns:a="http://schemas.openxmlformats.org/drawingml/2006/main">
            <a:pPr algn="l">
              <a:defRPr sz="2400" b="1">
                <a:solidFill>
                  <a:srgbClr val="EEF6F4"/>
                </a:solidFill>
                <a:latin typeface="Avenir Next"/>
                <a:ea typeface="Avenir Next"/>
                <a:cs typeface="Avenir Next"/>
              </a:defRPr>
            </a:pPr>
            <a:r>
              <a:rPr sz="2400" b="1">
                <a:solidFill>
                  <a:srgbClr val="EEF6F4"/>
                </a:solidFill>
                <a:latin typeface="Avenir Next"/>
                <a:ea typeface="Avenir Next"/>
                <a:cs typeface="Avenir Next"/>
              </a:rPr>
              <a:t>SYMBIOSIS</a:t>
            </a:r>
          </a:p>
        </p:txBody>
      </p:sp>
      <p:sp>
        <p:nvSpPr>
          <p:cNvPr id="12" name="">
            <a:extLst xmlns:a="http://schemas.openxmlformats.org/drawingml/2006/main">
              <a:ext uri="{FF2B5EF4-FFF2-40B4-BE49-F238E27FC236}">
                <a16:creationId xmlns:a16="http://schemas.microsoft.com/office/drawing/2014/main" id="{C90BDEBC-BCA9-485D-88F7-2F84626D6009}"/>
              </a:ext>
            </a:extLst>
          </p:cNvPr>
          <p:cNvSpPr>
            <a:spLocks xmlns:a="http://schemas.openxmlformats.org/drawingml/2006/main" noGrp="1"/>
          </p:cNvSpPr>
          <p:nvPr/>
        </p:nvSpPr>
        <p:spPr>
          <a:xfrm xmlns:a="http://schemas.openxmlformats.org/drawingml/2006/main">
            <a:off x="933450" y="5524500"/>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8D8E4"/>
                </a:solidFill>
                <a:latin typeface="Avenir Next"/>
                <a:ea typeface="Avenir Next"/>
                <a:cs typeface="Avenir Next"/>
              </a:defRPr>
            </a:pPr>
            <a:r>
              <a:rPr sz="1875" b="0">
                <a:solidFill>
                  <a:srgbClr val="58D8E4"/>
                </a:solidFill>
                <a:latin typeface="Avenir Next"/>
                <a:ea typeface="Avenir Next"/>
                <a:cs typeface="Avenir Next"/>
              </a:rPr>
              <a:t>Two independent axes</a:t>
            </a:r>
          </a:p>
        </p:txBody>
      </p:sp>
      <p:sp>
        <p:nvSpPr>
          <p:cNvPr id="13" name="">
            <a:extLst xmlns:a="http://schemas.openxmlformats.org/drawingml/2006/main">
              <a:ext uri="{FF2B5EF4-FFF2-40B4-BE49-F238E27FC236}">
                <a16:creationId xmlns:a16="http://schemas.microsoft.com/office/drawing/2014/main" id="{23D98396-D266-4E15-99A5-6565ED70B037}"/>
              </a:ext>
            </a:extLst>
          </p:cNvPr>
          <p:cNvSpPr>
            <a:spLocks xmlns:a="http://schemas.openxmlformats.org/drawingml/2006/main" noGrp="1"/>
          </p:cNvSpPr>
          <p:nvPr/>
        </p:nvSpPr>
        <p:spPr>
          <a:xfrm xmlns:a="http://schemas.openxmlformats.org/drawingml/2006/main">
            <a:off x="6524625" y="5524500"/>
            <a:ext cx="45434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8D8E4"/>
                </a:solidFill>
                <a:latin typeface="Avenir Next"/>
                <a:ea typeface="Avenir Next"/>
                <a:cs typeface="Avenir Next"/>
              </a:defRPr>
            </a:pPr>
            <a:r>
              <a:rPr sz="1875" b="0">
                <a:solidFill>
                  <a:srgbClr val="58D8E4"/>
                </a:solidFill>
                <a:latin typeface="Avenir Next"/>
                <a:ea typeface="Avenir Next"/>
                <a:cs typeface="Avenir Next"/>
              </a:rPr>
              <a:t>Local 5 km facility context</a:t>
            </a:r>
          </a:p>
        </p:txBody>
      </p:sp>
    </p:spTree>
    <p:extLst>
      <p:ext uri="{BB962C8B-B14F-4D97-AF65-F5344CB8AC3E}">
        <p14:creationId xmlns:p14="http://schemas.microsoft.com/office/powerpoint/2010/main" val="487320731"/>
      </p:ext>
    </p:extLst>
  </p:cSld>
</p:sld>
</file>

<file path=ppt/slides/slide5.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25" name="s5-title">
            <a:extLst xmlns:a="http://schemas.openxmlformats.org/drawingml/2006/main">
              <a:ext uri="{FF2B5EF4-FFF2-40B4-BE49-F238E27FC236}">
                <a16:creationId xmlns:a16="http://schemas.microsoft.com/office/drawing/2014/main" id="{4A0EEDD6-A38F-4181-B52A-713A8D4320D7}"/>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venir Next"/>
                <a:ea typeface="Avenir Next"/>
                <a:cs typeface="Avenir Next"/>
              </a:defRPr>
            </a:pPr>
            <a:r>
              <a:rPr sz="3375" b="1">
                <a:solidFill>
                  <a:srgbClr val="EEF6F4"/>
                </a:solidFill>
                <a:latin typeface="Avenir Next"/>
                <a:ea typeface="Avenir Next"/>
                <a:cs typeface="Avenir Next"/>
              </a:rPr>
              <a:t>Two axes make urban tradeoffs visible</a:t>
            </a:r>
          </a:p>
        </p:txBody>
      </p:sp>
      <p:sp>
        <p:nvSpPr>
          <p:cNvPr id="2" name="s5-number">
            <a:extLst xmlns:a="http://schemas.openxmlformats.org/drawingml/2006/main">
              <a:ext uri="{FF2B5EF4-FFF2-40B4-BE49-F238E27FC236}">
                <a16:creationId xmlns:a16="http://schemas.microsoft.com/office/drawing/2014/main" id="{8BAA1FBC-6C26-474A-8A4F-82D758CB0F66}"/>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venir Next"/>
                <a:ea typeface="Avenir Next"/>
                <a:cs typeface="Avenir Next"/>
              </a:defRPr>
            </a:pPr>
            <a:r>
              <a:rPr sz="1350" b="0">
                <a:solidFill>
                  <a:srgbClr val="9CB2BC"/>
                </a:solidFill>
                <a:latin typeface="Avenir Next"/>
                <a:ea typeface="Avenir Next"/>
                <a:cs typeface="Avenir Next"/>
              </a:rPr>
              <a:t>05/07</a:t>
            </a:r>
          </a:p>
        </p:txBody>
      </p:sp>
      <p:sp>
        <p:nvSpPr>
          <p:cNvPr id="3" name="">
            <a:extLst xmlns:a="http://schemas.openxmlformats.org/drawingml/2006/main">
              <a:ext uri="{FF2B5EF4-FFF2-40B4-BE49-F238E27FC236}">
                <a16:creationId xmlns:a16="http://schemas.microsoft.com/office/drawing/2014/main" id="{4C1EE53E-6127-410B-A28D-AFA039E12EF8}"/>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005AA44F-DFCC-40D8-93BD-A72551B060EC}"/>
              </a:ext>
            </a:extLst>
          </p:cNvPr>
          <p:cNvSpPr>
            <a:spLocks xmlns:a="http://schemas.openxmlformats.org/drawingml/2006/main" noGrp="1"/>
          </p:cNvSpPr>
          <p:nvPr/>
        </p:nvSpPr>
        <p:spPr>
          <a:xfrm xmlns:a="http://schemas.openxmlformats.org/drawingml/2006/main">
            <a:off x="1476375" y="5791200"/>
            <a:ext cx="5953125" cy="0"/>
          </a:xfrm>
          <a:prstGeom xmlns:a="http://schemas.openxmlformats.org/drawingml/2006/main" prst="line">
            <a:avLst/>
          </a:prstGeom>
          <a:noFill xmlns:a="http://schemas.openxmlformats.org/drawingml/2006/main"/>
          <a:ln xmlns:a="http://schemas.openxmlformats.org/drawingml/2006/main" w="19050">
            <a:solidFill>
              <a:srgbClr val="9CB2BC"/>
            </a:solidFill>
            <a:prstDash val="solid"/>
          </a:ln>
        </p:spPr>
      </p:sp>
      <p:sp>
        <p:nvSpPr>
          <p:cNvPr id="5" name="">
            <a:extLst xmlns:a="http://schemas.openxmlformats.org/drawingml/2006/main">
              <a:ext uri="{FF2B5EF4-FFF2-40B4-BE49-F238E27FC236}">
                <a16:creationId xmlns:a16="http://schemas.microsoft.com/office/drawing/2014/main" id="{6A8F0310-9349-4FFB-9762-A83F91AF01E4}"/>
              </a:ext>
            </a:extLst>
          </p:cNvPr>
          <p:cNvSpPr>
            <a:spLocks xmlns:a="http://schemas.openxmlformats.org/drawingml/2006/main" noGrp="1"/>
          </p:cNvSpPr>
          <p:nvPr/>
        </p:nvSpPr>
        <p:spPr>
          <a:xfrm xmlns:a="http://schemas.openxmlformats.org/drawingml/2006/main">
            <a:off x="1476375" y="2047875"/>
            <a:ext cx="0" cy="3743325"/>
          </a:xfrm>
          <a:prstGeom xmlns:a="http://schemas.openxmlformats.org/drawingml/2006/main" prst="line">
            <a:avLst/>
          </a:prstGeom>
          <a:noFill xmlns:a="http://schemas.openxmlformats.org/drawingml/2006/main"/>
          <a:ln xmlns:a="http://schemas.openxmlformats.org/drawingml/2006/main" w="19050">
            <a:solidFill>
              <a:srgbClr val="9CB2BC"/>
            </a:solidFill>
            <a:prstDash val="solid"/>
          </a:ln>
        </p:spPr>
      </p:sp>
      <p:sp>
        <p:nvSpPr>
          <p:cNvPr id="6" name="">
            <a:extLst xmlns:a="http://schemas.openxmlformats.org/drawingml/2006/main">
              <a:ext uri="{FF2B5EF4-FFF2-40B4-BE49-F238E27FC236}">
                <a16:creationId xmlns:a16="http://schemas.microsoft.com/office/drawing/2014/main" id="{D522D383-C82A-4EED-B9FC-B14FD79DC3DD}"/>
              </a:ext>
            </a:extLst>
          </p:cNvPr>
          <p:cNvSpPr>
            <a:spLocks xmlns:a="http://schemas.openxmlformats.org/drawingml/2006/main" noGrp="1"/>
          </p:cNvSpPr>
          <p:nvPr/>
        </p:nvSpPr>
        <p:spPr>
          <a:xfrm xmlns:a="http://schemas.openxmlformats.org/drawingml/2006/main">
            <a:off x="5048250" y="2047875"/>
            <a:ext cx="0" cy="3743325"/>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7" name="">
            <a:extLst xmlns:a="http://schemas.openxmlformats.org/drawingml/2006/main">
              <a:ext uri="{FF2B5EF4-FFF2-40B4-BE49-F238E27FC236}">
                <a16:creationId xmlns:a16="http://schemas.microsoft.com/office/drawing/2014/main" id="{246055D0-72C4-4E16-9CD3-BEDC3C7FF461}"/>
              </a:ext>
            </a:extLst>
          </p:cNvPr>
          <p:cNvSpPr>
            <a:spLocks xmlns:a="http://schemas.openxmlformats.org/drawingml/2006/main" noGrp="1"/>
          </p:cNvSpPr>
          <p:nvPr/>
        </p:nvSpPr>
        <p:spPr>
          <a:xfrm xmlns:a="http://schemas.openxmlformats.org/drawingml/2006/main">
            <a:off x="1476375" y="2983706"/>
            <a:ext cx="5953125"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8" name="">
            <a:extLst xmlns:a="http://schemas.openxmlformats.org/drawingml/2006/main">
              <a:ext uri="{FF2B5EF4-FFF2-40B4-BE49-F238E27FC236}">
                <a16:creationId xmlns:a16="http://schemas.microsoft.com/office/drawing/2014/main" id="{ED1D99AC-47E5-46BE-9C56-3C5D9E69F3D3}"/>
              </a:ext>
            </a:extLst>
          </p:cNvPr>
          <p:cNvSpPr>
            <a:spLocks xmlns:a="http://schemas.openxmlformats.org/drawingml/2006/main" noGrp="1"/>
          </p:cNvSpPr>
          <p:nvPr/>
        </p:nvSpPr>
        <p:spPr>
          <a:xfrm xmlns:a="http://schemas.openxmlformats.org/drawingml/2006/main">
            <a:off x="4876800" y="5895975"/>
            <a:ext cx="381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9CB2BC"/>
                </a:solidFill>
                <a:latin typeface="Avenir Next"/>
                <a:ea typeface="Avenir Next"/>
                <a:cs typeface="Avenir Next"/>
              </a:defRPr>
            </a:pPr>
            <a:r>
              <a:rPr sz="1275" b="0">
                <a:solidFill>
                  <a:srgbClr val="9CB2BC"/>
                </a:solidFill>
                <a:latin typeface="Avenir Next"/>
                <a:ea typeface="Avenir Next"/>
                <a:cs typeface="Avenir Next"/>
              </a:rPr>
              <a:t>60</a:t>
            </a:r>
          </a:p>
        </p:txBody>
      </p:sp>
      <p:sp>
        <p:nvSpPr>
          <p:cNvPr id="9" name="">
            <a:extLst xmlns:a="http://schemas.openxmlformats.org/drawingml/2006/main">
              <a:ext uri="{FF2B5EF4-FFF2-40B4-BE49-F238E27FC236}">
                <a16:creationId xmlns:a16="http://schemas.microsoft.com/office/drawing/2014/main" id="{15CD1261-BE9C-4F76-AD15-4F7E40ADA6C8}"/>
              </a:ext>
            </a:extLst>
          </p:cNvPr>
          <p:cNvSpPr>
            <a:spLocks xmlns:a="http://schemas.openxmlformats.org/drawingml/2006/main" noGrp="1"/>
          </p:cNvSpPr>
          <p:nvPr/>
        </p:nvSpPr>
        <p:spPr>
          <a:xfrm xmlns:a="http://schemas.openxmlformats.org/drawingml/2006/main">
            <a:off x="1057275" y="2859881"/>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9CB2BC"/>
                </a:solidFill>
                <a:latin typeface="Avenir Next"/>
                <a:ea typeface="Avenir Next"/>
                <a:cs typeface="Avenir Next"/>
              </a:defRPr>
            </a:pPr>
            <a:r>
              <a:rPr sz="1275" b="0">
                <a:solidFill>
                  <a:srgbClr val="9CB2BC"/>
                </a:solidFill>
                <a:latin typeface="Avenir Next"/>
                <a:ea typeface="Avenir Next"/>
                <a:cs typeface="Avenir Next"/>
              </a:rPr>
              <a:t>75</a:t>
            </a:r>
          </a:p>
        </p:txBody>
      </p:sp>
      <p:sp>
        <p:nvSpPr>
          <p:cNvPr id="10" name="">
            <a:extLst xmlns:a="http://schemas.openxmlformats.org/drawingml/2006/main">
              <a:ext uri="{FF2B5EF4-FFF2-40B4-BE49-F238E27FC236}">
                <a16:creationId xmlns:a16="http://schemas.microsoft.com/office/drawing/2014/main" id="{1B581D26-E068-41B9-94A8-309B922483EF}"/>
              </a:ext>
            </a:extLst>
          </p:cNvPr>
          <p:cNvSpPr>
            <a:spLocks xmlns:a="http://schemas.openxmlformats.org/drawingml/2006/main" noGrp="1"/>
          </p:cNvSpPr>
          <p:nvPr/>
        </p:nvSpPr>
        <p:spPr>
          <a:xfrm xmlns:a="http://schemas.openxmlformats.org/drawingml/2006/main">
            <a:off x="5162550" y="60483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9CB2BC"/>
                </a:solidFill>
                <a:latin typeface="Avenir Next"/>
                <a:ea typeface="Avenir Next"/>
                <a:cs typeface="Avenir Next"/>
              </a:defRPr>
            </a:pPr>
            <a:r>
              <a:rPr sz="1500" b="0">
                <a:solidFill>
                  <a:srgbClr val="9CB2BC"/>
                </a:solidFill>
                <a:latin typeface="Avenir Next"/>
                <a:ea typeface="Avenir Next"/>
                <a:cs typeface="Avenir Next"/>
              </a:rPr>
              <a:t>Inheritance</a:t>
            </a:r>
          </a:p>
        </p:txBody>
      </p:sp>
      <p:sp>
        <p:nvSpPr>
          <p:cNvPr id="11" name="">
            <a:extLst xmlns:a="http://schemas.openxmlformats.org/drawingml/2006/main">
              <a:ext uri="{FF2B5EF4-FFF2-40B4-BE49-F238E27FC236}">
                <a16:creationId xmlns:a16="http://schemas.microsoft.com/office/drawing/2014/main" id="{5270E2AB-97AE-417F-A085-96BDA51CF916}"/>
              </a:ext>
            </a:extLst>
          </p:cNvPr>
          <p:cNvSpPr>
            <a:spLocks xmlns:a="http://schemas.openxmlformats.org/drawingml/2006/main" noGrp="1"/>
          </p:cNvSpPr>
          <p:nvPr/>
        </p:nvSpPr>
        <p:spPr>
          <a:xfrm xmlns:a="http://schemas.openxmlformats.org/drawingml/2006/main">
            <a:off x="790575" y="1647825"/>
            <a:ext cx="1190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9CB2BC"/>
                </a:solidFill>
                <a:latin typeface="Avenir Next"/>
                <a:ea typeface="Avenir Next"/>
                <a:cs typeface="Avenir Next"/>
              </a:defRPr>
            </a:pPr>
            <a:r>
              <a:rPr sz="1500" b="0">
                <a:solidFill>
                  <a:srgbClr val="9CB2BC"/>
                </a:solidFill>
                <a:latin typeface="Avenir Next"/>
                <a:ea typeface="Avenir Next"/>
                <a:cs typeface="Avenir Next"/>
              </a:rPr>
              <a:t>Symbiosis</a:t>
            </a:r>
          </a:p>
        </p:txBody>
      </p:sp>
      <p:sp>
        <p:nvSpPr>
          <p:cNvPr id="12" name="">
            <a:extLst xmlns:a="http://schemas.openxmlformats.org/drawingml/2006/main">
              <a:ext uri="{FF2B5EF4-FFF2-40B4-BE49-F238E27FC236}">
                <a16:creationId xmlns:a16="http://schemas.microsoft.com/office/drawing/2014/main" id="{B52BF40C-A04D-45E0-8350-7C8E6654E43D}"/>
              </a:ext>
            </a:extLst>
          </p:cNvPr>
          <p:cNvSpPr>
            <a:spLocks xmlns:a="http://schemas.openxmlformats.org/drawingml/2006/main" noGrp="1"/>
          </p:cNvSpPr>
          <p:nvPr/>
        </p:nvSpPr>
        <p:spPr>
          <a:xfrm xmlns:a="http://schemas.openxmlformats.org/drawingml/2006/main">
            <a:off x="6051947" y="2206797"/>
            <a:ext cx="190500" cy="190500"/>
          </a:xfrm>
          <a:prstGeom xmlns:a="http://schemas.openxmlformats.org/drawingml/2006/main" prst="ellipse">
            <a:avLst/>
          </a:prstGeom>
          <a:solidFill xmlns:a="http://schemas.openxmlformats.org/drawingml/2006/main">
            <a:srgbClr val="58D8E4"/>
          </a:solidFill>
          <a:ln xmlns:a="http://schemas.openxmlformats.org/drawingml/2006/main" w="9525">
            <a:solidFill>
              <a:srgbClr val="071722"/>
            </a:solidFill>
            <a:prstDash val="solid"/>
          </a:ln>
        </p:spPr>
      </p:sp>
      <p:sp>
        <p:nvSpPr>
          <p:cNvPr id="13" name="">
            <a:extLst xmlns:a="http://schemas.openxmlformats.org/drawingml/2006/main">
              <a:ext uri="{FF2B5EF4-FFF2-40B4-BE49-F238E27FC236}">
                <a16:creationId xmlns:a16="http://schemas.microsoft.com/office/drawing/2014/main" id="{F1A74B44-5232-433B-BE31-B0F2329C2CDF}"/>
              </a:ext>
            </a:extLst>
          </p:cNvPr>
          <p:cNvSpPr>
            <a:spLocks xmlns:a="http://schemas.openxmlformats.org/drawingml/2006/main" noGrp="1"/>
          </p:cNvSpPr>
          <p:nvPr/>
        </p:nvSpPr>
        <p:spPr>
          <a:xfrm xmlns:a="http://schemas.openxmlformats.org/drawingml/2006/main">
            <a:off x="6309122" y="1921047"/>
            <a:ext cx="1524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venir Next"/>
                <a:ea typeface="Avenir Next"/>
                <a:cs typeface="Avenir Next"/>
              </a:defRPr>
            </a:pPr>
            <a:r>
              <a:rPr sz="1425" b="1">
                <a:solidFill>
                  <a:srgbClr val="EEF6F4"/>
                </a:solidFill>
                <a:latin typeface="Avenir Next"/>
                <a:ea typeface="Avenir Next"/>
                <a:cs typeface="Avenir Next"/>
              </a:rPr>
              <a:t>Astoria</a:t>
            </a:r>
          </a:p>
        </p:txBody>
      </p:sp>
      <p:sp>
        <p:nvSpPr>
          <p:cNvPr id="14" name="">
            <a:extLst xmlns:a="http://schemas.openxmlformats.org/drawingml/2006/main">
              <a:ext uri="{FF2B5EF4-FFF2-40B4-BE49-F238E27FC236}">
                <a16:creationId xmlns:a16="http://schemas.microsoft.com/office/drawing/2014/main" id="{B18884F9-5E7F-4246-A6F4-BE1328FF76B5}"/>
              </a:ext>
            </a:extLst>
          </p:cNvPr>
          <p:cNvSpPr>
            <a:spLocks xmlns:a="http://schemas.openxmlformats.org/drawingml/2006/main" noGrp="1"/>
          </p:cNvSpPr>
          <p:nvPr/>
        </p:nvSpPr>
        <p:spPr>
          <a:xfrm xmlns:a="http://schemas.openxmlformats.org/drawingml/2006/main">
            <a:off x="5023842" y="2701664"/>
            <a:ext cx="190500" cy="190500"/>
          </a:xfrm>
          <a:prstGeom xmlns:a="http://schemas.openxmlformats.org/drawingml/2006/main" prst="ellipse">
            <a:avLst/>
          </a:prstGeom>
          <a:solidFill xmlns:a="http://schemas.openxmlformats.org/drawingml/2006/main">
            <a:srgbClr val="58D8E4"/>
          </a:solidFill>
          <a:ln xmlns:a="http://schemas.openxmlformats.org/drawingml/2006/main" w="9525">
            <a:solidFill>
              <a:srgbClr val="071722"/>
            </a:solidFill>
            <a:prstDash val="solid"/>
          </a:ln>
        </p:spPr>
      </p:sp>
      <p:sp>
        <p:nvSpPr>
          <p:cNvPr id="15" name="">
            <a:extLst xmlns:a="http://schemas.openxmlformats.org/drawingml/2006/main">
              <a:ext uri="{FF2B5EF4-FFF2-40B4-BE49-F238E27FC236}">
                <a16:creationId xmlns:a16="http://schemas.microsoft.com/office/drawing/2014/main" id="{EC40EB58-6A7E-4101-93A9-9C99A59343A4}"/>
              </a:ext>
            </a:extLst>
          </p:cNvPr>
          <p:cNvSpPr>
            <a:spLocks xmlns:a="http://schemas.openxmlformats.org/drawingml/2006/main" noGrp="1"/>
          </p:cNvSpPr>
          <p:nvPr/>
        </p:nvSpPr>
        <p:spPr>
          <a:xfrm xmlns:a="http://schemas.openxmlformats.org/drawingml/2006/main">
            <a:off x="5261967" y="2806439"/>
            <a:ext cx="1190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venir Next"/>
                <a:ea typeface="Avenir Next"/>
                <a:cs typeface="Avenir Next"/>
              </a:defRPr>
            </a:pPr>
            <a:r>
              <a:rPr sz="1425" b="1">
                <a:solidFill>
                  <a:srgbClr val="EEF6F4"/>
                </a:solidFill>
                <a:latin typeface="Avenir Next"/>
                <a:ea typeface="Avenir Next"/>
                <a:cs typeface="Avenir Next"/>
              </a:rPr>
              <a:t>Salem</a:t>
            </a:r>
          </a:p>
        </p:txBody>
      </p:sp>
      <p:sp>
        <p:nvSpPr>
          <p:cNvPr id="16" name="">
            <a:extLst xmlns:a="http://schemas.openxmlformats.org/drawingml/2006/main">
              <a:ext uri="{FF2B5EF4-FFF2-40B4-BE49-F238E27FC236}">
                <a16:creationId xmlns:a16="http://schemas.microsoft.com/office/drawing/2014/main" id="{10E9A89F-6088-4FD9-96F4-A0E569B70CDB}"/>
              </a:ext>
            </a:extLst>
          </p:cNvPr>
          <p:cNvSpPr>
            <a:spLocks xmlns:a="http://schemas.openxmlformats.org/drawingml/2006/main" noGrp="1"/>
          </p:cNvSpPr>
          <p:nvPr/>
        </p:nvSpPr>
        <p:spPr>
          <a:xfrm xmlns:a="http://schemas.openxmlformats.org/drawingml/2006/main">
            <a:off x="6698456" y="3124660"/>
            <a:ext cx="190500" cy="190500"/>
          </a:xfrm>
          <a:prstGeom xmlns:a="http://schemas.openxmlformats.org/drawingml/2006/main" prst="ellipse">
            <a:avLst/>
          </a:prstGeom>
          <a:solidFill xmlns:a="http://schemas.openxmlformats.org/drawingml/2006/main">
            <a:srgbClr val="F0AA6B"/>
          </a:solidFill>
          <a:ln xmlns:a="http://schemas.openxmlformats.org/drawingml/2006/main" w="9525">
            <a:solidFill>
              <a:srgbClr val="071722"/>
            </a:solidFill>
            <a:prstDash val="solid"/>
          </a:ln>
        </p:spPr>
      </p:sp>
      <p:sp>
        <p:nvSpPr>
          <p:cNvPr id="17" name="">
            <a:extLst xmlns:a="http://schemas.openxmlformats.org/drawingml/2006/main">
              <a:ext uri="{FF2B5EF4-FFF2-40B4-BE49-F238E27FC236}">
                <a16:creationId xmlns:a16="http://schemas.microsoft.com/office/drawing/2014/main" id="{70DB5CBA-F17F-4D5C-B20D-AFCEF55F8E49}"/>
              </a:ext>
            </a:extLst>
          </p:cNvPr>
          <p:cNvSpPr>
            <a:spLocks xmlns:a="http://schemas.openxmlformats.org/drawingml/2006/main" noGrp="1"/>
          </p:cNvSpPr>
          <p:nvPr/>
        </p:nvSpPr>
        <p:spPr>
          <a:xfrm xmlns:a="http://schemas.openxmlformats.org/drawingml/2006/main">
            <a:off x="5269706" y="3258010"/>
            <a:ext cx="1476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venir Next"/>
                <a:ea typeface="Avenir Next"/>
                <a:cs typeface="Avenir Next"/>
              </a:defRPr>
            </a:pPr>
            <a:r>
              <a:rPr sz="1425" b="1">
                <a:solidFill>
                  <a:srgbClr val="EEF6F4"/>
                </a:solidFill>
                <a:latin typeface="Avenir Next"/>
                <a:ea typeface="Avenir Next"/>
                <a:cs typeface="Avenir Next"/>
              </a:rPr>
              <a:t>Indian Point</a:t>
            </a:r>
          </a:p>
        </p:txBody>
      </p:sp>
      <p:sp>
        <p:nvSpPr>
          <p:cNvPr id="18" name="">
            <a:extLst xmlns:a="http://schemas.openxmlformats.org/drawingml/2006/main">
              <a:ext uri="{FF2B5EF4-FFF2-40B4-BE49-F238E27FC236}">
                <a16:creationId xmlns:a16="http://schemas.microsoft.com/office/drawing/2014/main" id="{D3861AFB-FC74-43C3-BAE2-210CA7398974}"/>
              </a:ext>
            </a:extLst>
          </p:cNvPr>
          <p:cNvSpPr>
            <a:spLocks xmlns:a="http://schemas.openxmlformats.org/drawingml/2006/main" noGrp="1"/>
          </p:cNvSpPr>
          <p:nvPr/>
        </p:nvSpPr>
        <p:spPr>
          <a:xfrm xmlns:a="http://schemas.openxmlformats.org/drawingml/2006/main">
            <a:off x="3183136" y="1952625"/>
            <a:ext cx="190500" cy="190500"/>
          </a:xfrm>
          <a:prstGeom xmlns:a="http://schemas.openxmlformats.org/drawingml/2006/main" prst="ellipse">
            <a:avLst/>
          </a:prstGeom>
          <a:solidFill xmlns:a="http://schemas.openxmlformats.org/drawingml/2006/main">
            <a:srgbClr val="F0AA6B"/>
          </a:solidFill>
          <a:ln xmlns:a="http://schemas.openxmlformats.org/drawingml/2006/main" w="9525">
            <a:solidFill>
              <a:srgbClr val="071722"/>
            </a:solidFill>
            <a:prstDash val="solid"/>
          </a:ln>
        </p:spPr>
      </p:sp>
      <p:sp>
        <p:nvSpPr>
          <p:cNvPr id="19" name="">
            <a:extLst xmlns:a="http://schemas.openxmlformats.org/drawingml/2006/main">
              <a:ext uri="{FF2B5EF4-FFF2-40B4-BE49-F238E27FC236}">
                <a16:creationId xmlns:a16="http://schemas.microsoft.com/office/drawing/2014/main" id="{245C56CA-7B57-4DA7-93EB-F6533B147A6B}"/>
              </a:ext>
            </a:extLst>
          </p:cNvPr>
          <p:cNvSpPr>
            <a:spLocks xmlns:a="http://schemas.openxmlformats.org/drawingml/2006/main" noGrp="1"/>
          </p:cNvSpPr>
          <p:nvPr/>
        </p:nvSpPr>
        <p:spPr>
          <a:xfrm xmlns:a="http://schemas.openxmlformats.org/drawingml/2006/main">
            <a:off x="2687836" y="1657350"/>
            <a:ext cx="1714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venir Next"/>
                <a:ea typeface="Avenir Next"/>
                <a:cs typeface="Avenir Next"/>
              </a:defRPr>
            </a:pPr>
            <a:r>
              <a:rPr sz="1425" b="1">
                <a:solidFill>
                  <a:srgbClr val="EEF6F4"/>
                </a:solidFill>
                <a:latin typeface="Avenir Next"/>
                <a:ea typeface="Avenir Next"/>
                <a:cs typeface="Avenir Next"/>
              </a:rPr>
              <a:t>Davis Street</a:t>
            </a:r>
          </a:p>
        </p:txBody>
      </p:sp>
      <p:sp>
        <p:nvSpPr>
          <p:cNvPr id="20" name="">
            <a:extLst xmlns:a="http://schemas.openxmlformats.org/drawingml/2006/main">
              <a:ext uri="{FF2B5EF4-FFF2-40B4-BE49-F238E27FC236}">
                <a16:creationId xmlns:a16="http://schemas.microsoft.com/office/drawing/2014/main" id="{C0C2E506-4BED-4A4D-9760-40D583FBCF2B}"/>
              </a:ext>
            </a:extLst>
          </p:cNvPr>
          <p:cNvSpPr>
            <a:spLocks xmlns:a="http://schemas.openxmlformats.org/drawingml/2006/main" noGrp="1"/>
          </p:cNvSpPr>
          <p:nvPr/>
        </p:nvSpPr>
        <p:spPr>
          <a:xfrm xmlns:a="http://schemas.openxmlformats.org/drawingml/2006/main">
            <a:off x="8286750" y="2190750"/>
            <a:ext cx="2895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EEF6F4"/>
                </a:solidFill>
                <a:latin typeface="Avenir Next"/>
                <a:ea typeface="Avenir Next"/>
                <a:cs typeface="Avenir Next"/>
              </a:defRPr>
            </a:pPr>
            <a:r>
              <a:rPr sz="2250" b="1">
                <a:solidFill>
                  <a:srgbClr val="EEF6F4"/>
                </a:solidFill>
                <a:latin typeface="Avenir Next"/>
                <a:ea typeface="Avenir Next"/>
                <a:cs typeface="Avenir Next"/>
              </a:rPr>
              <a:t>Astoria</a:t>
            </a:r>
          </a:p>
        </p:txBody>
      </p:sp>
      <p:sp>
        <p:nvSpPr>
          <p:cNvPr id="21" name="">
            <a:extLst xmlns:a="http://schemas.openxmlformats.org/drawingml/2006/main">
              <a:ext uri="{FF2B5EF4-FFF2-40B4-BE49-F238E27FC236}">
                <a16:creationId xmlns:a16="http://schemas.microsoft.com/office/drawing/2014/main" id="{6689C22F-B5A8-4094-9CC3-331BDBA695DE}"/>
              </a:ext>
            </a:extLst>
          </p:cNvPr>
          <p:cNvSpPr>
            <a:spLocks xmlns:a="http://schemas.openxmlformats.org/drawingml/2006/main" noGrp="1"/>
          </p:cNvSpPr>
          <p:nvPr/>
        </p:nvSpPr>
        <p:spPr>
          <a:xfrm xmlns:a="http://schemas.openxmlformats.org/drawingml/2006/main">
            <a:off x="8286750" y="26479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58D8E4"/>
                </a:solidFill>
                <a:latin typeface="Avenir Next"/>
                <a:ea typeface="Avenir Next"/>
                <a:cs typeface="Avenir Next"/>
              </a:defRPr>
            </a:pPr>
            <a:r>
              <a:rPr sz="2550" b="1">
                <a:solidFill>
                  <a:srgbClr val="58D8E4"/>
                </a:solidFill>
                <a:latin typeface="Avenir Next"/>
                <a:ea typeface="Avenir Next"/>
                <a:cs typeface="Avenir Next"/>
              </a:rPr>
              <a:t>78.46  /  93.21</a:t>
            </a:r>
          </a:p>
        </p:txBody>
      </p:sp>
      <p:sp>
        <p:nvSpPr>
          <p:cNvPr id="22" name="">
            <a:extLst xmlns:a="http://schemas.openxmlformats.org/drawingml/2006/main">
              <a:ext uri="{FF2B5EF4-FFF2-40B4-BE49-F238E27FC236}">
                <a16:creationId xmlns:a16="http://schemas.microsoft.com/office/drawing/2014/main" id="{F86A3216-7DC0-45F6-BF67-4ACEC3BF6C3D}"/>
              </a:ext>
            </a:extLst>
          </p:cNvPr>
          <p:cNvSpPr>
            <a:spLocks xmlns:a="http://schemas.openxmlformats.org/drawingml/2006/main" noGrp="1"/>
          </p:cNvSpPr>
          <p:nvPr/>
        </p:nvSpPr>
        <p:spPr>
          <a:xfrm xmlns:a="http://schemas.openxmlformats.org/drawingml/2006/main">
            <a:off x="8286750" y="3524250"/>
            <a:ext cx="2895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EEF6F4"/>
                </a:solidFill>
                <a:latin typeface="Avenir Next"/>
                <a:ea typeface="Avenir Next"/>
                <a:cs typeface="Avenir Next"/>
              </a:defRPr>
            </a:pPr>
            <a:r>
              <a:rPr sz="2250" b="1">
                <a:solidFill>
                  <a:srgbClr val="EEF6F4"/>
                </a:solidFill>
                <a:latin typeface="Avenir Next"/>
                <a:ea typeface="Avenir Next"/>
                <a:cs typeface="Avenir Next"/>
              </a:rPr>
              <a:t>Salem</a:t>
            </a:r>
          </a:p>
        </p:txBody>
      </p:sp>
      <p:sp>
        <p:nvSpPr>
          <p:cNvPr id="23" name="">
            <a:extLst xmlns:a="http://schemas.openxmlformats.org/drawingml/2006/main">
              <a:ext uri="{FF2B5EF4-FFF2-40B4-BE49-F238E27FC236}">
                <a16:creationId xmlns:a16="http://schemas.microsoft.com/office/drawing/2014/main" id="{9D5DC42D-DE34-49F3-A934-E0A89FB97AF9}"/>
              </a:ext>
            </a:extLst>
          </p:cNvPr>
          <p:cNvSpPr>
            <a:spLocks xmlns:a="http://schemas.openxmlformats.org/drawingml/2006/main" noGrp="1"/>
          </p:cNvSpPr>
          <p:nvPr/>
        </p:nvSpPr>
        <p:spPr>
          <a:xfrm xmlns:a="http://schemas.openxmlformats.org/drawingml/2006/main">
            <a:off x="8286750" y="39814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58D8E4"/>
                </a:solidFill>
                <a:latin typeface="Avenir Next"/>
                <a:ea typeface="Avenir Next"/>
                <a:cs typeface="Avenir Next"/>
              </a:defRPr>
            </a:pPr>
            <a:r>
              <a:rPr sz="2550" b="1">
                <a:solidFill>
                  <a:srgbClr val="58D8E4"/>
                </a:solidFill>
                <a:latin typeface="Avenir Next"/>
                <a:ea typeface="Avenir Next"/>
                <a:cs typeface="Avenir Next"/>
              </a:rPr>
              <a:t>61.19  /  79.99</a:t>
            </a:r>
          </a:p>
        </p:txBody>
      </p:sp>
      <p:sp>
        <p:nvSpPr>
          <p:cNvPr id="24" name="">
            <a:extLst xmlns:a="http://schemas.openxmlformats.org/drawingml/2006/main">
              <a:ext uri="{FF2B5EF4-FFF2-40B4-BE49-F238E27FC236}">
                <a16:creationId xmlns:a16="http://schemas.microsoft.com/office/drawing/2014/main" id="{EDA888EB-1CAB-4A14-ACC5-2741391844FF}"/>
              </a:ext>
            </a:extLst>
          </p:cNvPr>
          <p:cNvSpPr>
            <a:spLocks xmlns:a="http://schemas.openxmlformats.org/drawingml/2006/main" noGrp="1"/>
          </p:cNvSpPr>
          <p:nvPr/>
        </p:nvSpPr>
        <p:spPr>
          <a:xfrm xmlns:a="http://schemas.openxmlformats.org/drawingml/2006/main">
            <a:off x="8286750" y="4981575"/>
            <a:ext cx="30289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9CB2BC"/>
                </a:solidFill>
                <a:latin typeface="Avenir Next"/>
                <a:ea typeface="Avenir Next"/>
                <a:cs typeface="Avenir Next"/>
              </a:defRPr>
            </a:pPr>
            <a:r>
              <a:rPr sz="1650" b="0">
                <a:solidFill>
                  <a:srgbClr val="9CB2BC"/>
                </a:solidFill>
                <a:latin typeface="Avenir Next"/>
                <a:ea typeface="Avenir Next"/>
                <a:cs typeface="Avenir Next"/>
              </a:rPr>
              <a:t>Connectivity remains a separate exploratory view.</a:t>
            </a:r>
          </a:p>
        </p:txBody>
      </p:sp>
    </p:spTree>
    <p:extLst>
      <p:ext uri="{BB962C8B-B14F-4D97-AF65-F5344CB8AC3E}">
        <p14:creationId xmlns:p14="http://schemas.microsoft.com/office/powerpoint/2010/main" val="1809032031"/>
      </p:ext>
    </p:extLst>
  </p:cSld>
</p:sld>
</file>

<file path=ppt/slides/slide6.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4" name="s6-title">
            <a:extLst xmlns:a="http://schemas.openxmlformats.org/drawingml/2006/main">
              <a:ext uri="{FF2B5EF4-FFF2-40B4-BE49-F238E27FC236}">
                <a16:creationId xmlns:a16="http://schemas.microsoft.com/office/drawing/2014/main" id="{8638E677-DAE5-43B7-B0F5-F9E6F1100C2E}"/>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venir Next"/>
                <a:ea typeface="Avenir Next"/>
                <a:cs typeface="Avenir Next"/>
              </a:defRPr>
            </a:pPr>
            <a:r>
              <a:rPr sz="3375" b="1">
                <a:solidFill>
                  <a:srgbClr val="EEF6F4"/>
                </a:solidFill>
                <a:latin typeface="Avenir Next"/>
                <a:ea typeface="Avenir Next"/>
                <a:cs typeface="Avenir Next"/>
              </a:rPr>
              <a:t>Astoria is the first due-diligence lead</a:t>
            </a:r>
          </a:p>
        </p:txBody>
      </p:sp>
      <p:sp>
        <p:nvSpPr>
          <p:cNvPr id="2" name="s6-number">
            <a:extLst xmlns:a="http://schemas.openxmlformats.org/drawingml/2006/main">
              <a:ext uri="{FF2B5EF4-FFF2-40B4-BE49-F238E27FC236}">
                <a16:creationId xmlns:a16="http://schemas.microsoft.com/office/drawing/2014/main" id="{EE5916A3-EA64-4340-B8C3-6B8AA0B7947A}"/>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venir Next"/>
                <a:ea typeface="Avenir Next"/>
                <a:cs typeface="Avenir Next"/>
              </a:defRPr>
            </a:pPr>
            <a:r>
              <a:rPr sz="1350" b="0">
                <a:solidFill>
                  <a:srgbClr val="9CB2BC"/>
                </a:solidFill>
                <a:latin typeface="Avenir Next"/>
                <a:ea typeface="Avenir Next"/>
                <a:cs typeface="Avenir Next"/>
              </a:rPr>
              <a:t>06/07</a:t>
            </a:r>
          </a:p>
        </p:txBody>
      </p:sp>
      <p:sp>
        <p:nvSpPr>
          <p:cNvPr id="3" name="">
            <a:extLst xmlns:a="http://schemas.openxmlformats.org/drawingml/2006/main">
              <a:ext uri="{FF2B5EF4-FFF2-40B4-BE49-F238E27FC236}">
                <a16:creationId xmlns:a16="http://schemas.microsoft.com/office/drawing/2014/main" id="{A37F1C2D-747F-43CD-8897-9E9C276CFCEC}"/>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41530E4A-2AC1-4207-911B-EF68F6F2CA69}"/>
              </a:ext>
            </a:extLst>
          </p:cNvPr>
          <p:cNvSpPr>
            <a:spLocks xmlns:a="http://schemas.openxmlformats.org/drawingml/2006/main" noGrp="1"/>
          </p:cNvSpPr>
          <p:nvPr/>
        </p:nvSpPr>
        <p:spPr>
          <a:xfrm xmlns:a="http://schemas.openxmlformats.org/drawingml/2006/main">
            <a:off x="733425" y="1962150"/>
            <a:ext cx="64389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EEF6F4"/>
                </a:solidFill>
                <a:latin typeface="Avenir Next"/>
                <a:ea typeface="Avenir Next"/>
                <a:cs typeface="Avenir Next"/>
              </a:defRPr>
            </a:pPr>
            <a:r>
              <a:rPr sz="5850" b="1">
                <a:solidFill>
                  <a:srgbClr val="EEF6F4"/>
                </a:solidFill>
                <a:latin typeface="Avenir Next"/>
                <a:ea typeface="Avenir Next"/>
                <a:cs typeface="Avenir Next"/>
              </a:rPr>
              <a:t>ASTORIA</a:t>
            </a:r>
          </a:p>
        </p:txBody>
      </p:sp>
      <p:sp>
        <p:nvSpPr>
          <p:cNvPr id="5" name="">
            <a:extLst xmlns:a="http://schemas.openxmlformats.org/drawingml/2006/main">
              <a:ext uri="{FF2B5EF4-FFF2-40B4-BE49-F238E27FC236}">
                <a16:creationId xmlns:a16="http://schemas.microsoft.com/office/drawing/2014/main" id="{4E709AC1-BD3F-413B-A267-DF0B2B5529A3}"/>
              </a:ext>
            </a:extLst>
          </p:cNvPr>
          <p:cNvSpPr>
            <a:spLocks xmlns:a="http://schemas.openxmlformats.org/drawingml/2006/main" noGrp="1"/>
          </p:cNvSpPr>
          <p:nvPr/>
        </p:nvSpPr>
        <p:spPr>
          <a:xfrm xmlns:a="http://schemas.openxmlformats.org/drawingml/2006/main">
            <a:off x="800100" y="295275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9CB2BC"/>
                </a:solidFill>
                <a:latin typeface="Avenir Next"/>
                <a:ea typeface="Avenir Next"/>
                <a:cs typeface="Avenir Next"/>
              </a:defRPr>
            </a:pPr>
            <a:r>
              <a:rPr sz="1875" b="0">
                <a:solidFill>
                  <a:srgbClr val="9CB2BC"/>
                </a:solidFill>
                <a:latin typeface="Avenir Next"/>
                <a:ea typeface="Avenir Next"/>
                <a:cs typeface="Avenir Next"/>
              </a:rPr>
              <a:t>Queens, NY  ·  EPA site 40157</a:t>
            </a:r>
          </a:p>
        </p:txBody>
      </p:sp>
      <p:sp>
        <p:nvSpPr>
          <p:cNvPr id="6" name="">
            <a:extLst xmlns:a="http://schemas.openxmlformats.org/drawingml/2006/main">
              <a:ext uri="{FF2B5EF4-FFF2-40B4-BE49-F238E27FC236}">
                <a16:creationId xmlns:a16="http://schemas.microsoft.com/office/drawing/2014/main" id="{34DCAEA7-936F-4F0E-B866-9711076324D2}"/>
              </a:ext>
            </a:extLst>
          </p:cNvPr>
          <p:cNvSpPr>
            <a:spLocks xmlns:a="http://schemas.openxmlformats.org/drawingml/2006/main" noGrp="1"/>
          </p:cNvSpPr>
          <p:nvPr/>
        </p:nvSpPr>
        <p:spPr>
          <a:xfrm xmlns:a="http://schemas.openxmlformats.org/drawingml/2006/main">
            <a:off x="762000" y="3705225"/>
            <a:ext cx="106299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7" name="">
            <a:extLst xmlns:a="http://schemas.openxmlformats.org/drawingml/2006/main">
              <a:ext uri="{FF2B5EF4-FFF2-40B4-BE49-F238E27FC236}">
                <a16:creationId xmlns:a16="http://schemas.microsoft.com/office/drawing/2014/main" id="{F2FF4FE8-4BC0-4DA8-BCB3-8ABC2C7EE01B}"/>
              </a:ext>
            </a:extLst>
          </p:cNvPr>
          <p:cNvSpPr>
            <a:spLocks xmlns:a="http://schemas.openxmlformats.org/drawingml/2006/main" noGrp="1"/>
          </p:cNvSpPr>
          <p:nvPr/>
        </p:nvSpPr>
        <p:spPr>
          <a:xfrm xmlns:a="http://schemas.openxmlformats.org/drawingml/2006/main">
            <a:off x="828675" y="4019550"/>
            <a:ext cx="27336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58D8E4"/>
                </a:solidFill>
                <a:latin typeface="Avenir Next"/>
                <a:ea typeface="Avenir Next"/>
                <a:cs typeface="Avenir Next"/>
              </a:defRPr>
            </a:pPr>
            <a:r>
              <a:rPr sz="5250" b="1">
                <a:solidFill>
                  <a:srgbClr val="58D8E4"/>
                </a:solidFill>
                <a:latin typeface="Avenir Next"/>
                <a:ea typeface="Avenir Next"/>
                <a:cs typeface="Avenir Next"/>
              </a:rPr>
              <a:t>78.46</a:t>
            </a:r>
          </a:p>
        </p:txBody>
      </p:sp>
      <p:sp>
        <p:nvSpPr>
          <p:cNvPr id="8" name="">
            <a:extLst xmlns:a="http://schemas.openxmlformats.org/drawingml/2006/main">
              <a:ext uri="{FF2B5EF4-FFF2-40B4-BE49-F238E27FC236}">
                <a16:creationId xmlns:a16="http://schemas.microsoft.com/office/drawing/2014/main" id="{E3CE08AF-1442-4209-B3C7-86A9CA674EC4}"/>
              </a:ext>
            </a:extLst>
          </p:cNvPr>
          <p:cNvSpPr>
            <a:spLocks xmlns:a="http://schemas.openxmlformats.org/drawingml/2006/main" noGrp="1"/>
          </p:cNvSpPr>
          <p:nvPr/>
        </p:nvSpPr>
        <p:spPr>
          <a:xfrm xmlns:a="http://schemas.openxmlformats.org/drawingml/2006/main">
            <a:off x="876300" y="4848225"/>
            <a:ext cx="26384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9CB2BC"/>
                </a:solidFill>
                <a:latin typeface="Avenir Next"/>
                <a:ea typeface="Avenir Next"/>
                <a:cs typeface="Avenir Next"/>
              </a:defRPr>
            </a:pPr>
            <a:r>
              <a:rPr sz="1800" b="0">
                <a:solidFill>
                  <a:srgbClr val="9CB2BC"/>
                </a:solidFill>
                <a:latin typeface="Avenir Next"/>
                <a:ea typeface="Avenir Next"/>
                <a:cs typeface="Avenir Next"/>
              </a:rPr>
              <a:t>inheritance</a:t>
            </a:r>
          </a:p>
        </p:txBody>
      </p:sp>
      <p:sp>
        <p:nvSpPr>
          <p:cNvPr id="9" name="">
            <a:extLst xmlns:a="http://schemas.openxmlformats.org/drawingml/2006/main">
              <a:ext uri="{FF2B5EF4-FFF2-40B4-BE49-F238E27FC236}">
                <a16:creationId xmlns:a16="http://schemas.microsoft.com/office/drawing/2014/main" id="{0F4DC9DA-FF81-406F-916E-30EADCF36E29}"/>
              </a:ext>
            </a:extLst>
          </p:cNvPr>
          <p:cNvSpPr>
            <a:spLocks xmlns:a="http://schemas.openxmlformats.org/drawingml/2006/main" noGrp="1"/>
          </p:cNvSpPr>
          <p:nvPr/>
        </p:nvSpPr>
        <p:spPr>
          <a:xfrm xmlns:a="http://schemas.openxmlformats.org/drawingml/2006/main">
            <a:off x="4086225" y="4019550"/>
            <a:ext cx="2619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58D8E4"/>
                </a:solidFill>
                <a:latin typeface="Avenir Next"/>
                <a:ea typeface="Avenir Next"/>
                <a:cs typeface="Avenir Next"/>
              </a:defRPr>
            </a:pPr>
            <a:r>
              <a:rPr sz="5250" b="1">
                <a:solidFill>
                  <a:srgbClr val="58D8E4"/>
                </a:solidFill>
                <a:latin typeface="Avenir Next"/>
                <a:ea typeface="Avenir Next"/>
                <a:cs typeface="Avenir Next"/>
              </a:rPr>
              <a:t>93.21</a:t>
            </a:r>
          </a:p>
        </p:txBody>
      </p:sp>
      <p:sp>
        <p:nvSpPr>
          <p:cNvPr id="10" name="">
            <a:extLst xmlns:a="http://schemas.openxmlformats.org/drawingml/2006/main">
              <a:ext uri="{FF2B5EF4-FFF2-40B4-BE49-F238E27FC236}">
                <a16:creationId xmlns:a16="http://schemas.microsoft.com/office/drawing/2014/main" id="{230CDC1F-A0A3-435C-98D0-96E48BDABEFC}"/>
              </a:ext>
            </a:extLst>
          </p:cNvPr>
          <p:cNvSpPr>
            <a:spLocks xmlns:a="http://schemas.openxmlformats.org/drawingml/2006/main" noGrp="1"/>
          </p:cNvSpPr>
          <p:nvPr/>
        </p:nvSpPr>
        <p:spPr>
          <a:xfrm xmlns:a="http://schemas.openxmlformats.org/drawingml/2006/main">
            <a:off x="4124325" y="4848225"/>
            <a:ext cx="25527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9CB2BC"/>
                </a:solidFill>
                <a:latin typeface="Avenir Next"/>
                <a:ea typeface="Avenir Next"/>
                <a:cs typeface="Avenir Next"/>
              </a:defRPr>
            </a:pPr>
            <a:r>
              <a:rPr sz="1800" b="0">
                <a:solidFill>
                  <a:srgbClr val="9CB2BC"/>
                </a:solidFill>
                <a:latin typeface="Avenir Next"/>
                <a:ea typeface="Avenir Next"/>
                <a:cs typeface="Avenir Next"/>
              </a:rPr>
              <a:t>symbiosis</a:t>
            </a:r>
          </a:p>
        </p:txBody>
      </p:sp>
      <p:sp>
        <p:nvSpPr>
          <p:cNvPr id="11" name="">
            <a:extLst xmlns:a="http://schemas.openxmlformats.org/drawingml/2006/main">
              <a:ext uri="{FF2B5EF4-FFF2-40B4-BE49-F238E27FC236}">
                <a16:creationId xmlns:a16="http://schemas.microsoft.com/office/drawing/2014/main" id="{07E09E67-DAD4-4F9F-BD96-495322ABAF2F}"/>
              </a:ext>
            </a:extLst>
          </p:cNvPr>
          <p:cNvSpPr>
            <a:spLocks xmlns:a="http://schemas.openxmlformats.org/drawingml/2006/main" noGrp="1"/>
          </p:cNvSpPr>
          <p:nvPr/>
        </p:nvSpPr>
        <p:spPr>
          <a:xfrm xmlns:a="http://schemas.openxmlformats.org/drawingml/2006/main">
            <a:off x="7724775" y="4057650"/>
            <a:ext cx="166687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025" b="1">
                <a:solidFill>
                  <a:srgbClr val="EEF6F4"/>
                </a:solidFill>
                <a:latin typeface="Avenir Next"/>
                <a:ea typeface="Avenir Next"/>
                <a:cs typeface="Avenir Next"/>
              </a:defRPr>
            </a:pPr>
            <a:r>
              <a:rPr sz="5025" b="1">
                <a:solidFill>
                  <a:srgbClr val="EEF6F4"/>
                </a:solidFill>
                <a:latin typeface="Avenir Next"/>
                <a:ea typeface="Avenir Next"/>
                <a:cs typeface="Avenir Next"/>
              </a:rPr>
              <a:t>37</a:t>
            </a:r>
          </a:p>
        </p:txBody>
      </p:sp>
      <p:sp>
        <p:nvSpPr>
          <p:cNvPr id="12" name="">
            <a:extLst xmlns:a="http://schemas.openxmlformats.org/drawingml/2006/main">
              <a:ext uri="{FF2B5EF4-FFF2-40B4-BE49-F238E27FC236}">
                <a16:creationId xmlns:a16="http://schemas.microsoft.com/office/drawing/2014/main" id="{2121C62A-03C1-4695-84F1-7B6A9A2F4467}"/>
              </a:ext>
            </a:extLst>
          </p:cNvPr>
          <p:cNvSpPr>
            <a:spLocks xmlns:a="http://schemas.openxmlformats.org/drawingml/2006/main" noGrp="1"/>
          </p:cNvSpPr>
          <p:nvPr/>
        </p:nvSpPr>
        <p:spPr>
          <a:xfrm xmlns:a="http://schemas.openxmlformats.org/drawingml/2006/main">
            <a:off x="7753350" y="480060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9CB2BC"/>
                </a:solidFill>
                <a:latin typeface="Avenir Next"/>
                <a:ea typeface="Avenir Next"/>
                <a:cs typeface="Avenir Next"/>
              </a:defRPr>
            </a:pPr>
            <a:r>
              <a:rPr sz="1725" b="0">
                <a:solidFill>
                  <a:srgbClr val="9CB2BC"/>
                </a:solidFill>
                <a:latin typeface="Avenir Next"/>
                <a:ea typeface="Avenir Next"/>
                <a:cs typeface="Avenir Next"/>
              </a:rPr>
              <a:t>selected manufacturing</a:t>
            </a:r>
          </a:p>
          <a:p xmlns:a="http://schemas.openxmlformats.org/drawingml/2006/main">
            <a:pPr algn="l">
              <a:defRPr sz="1725" b="0">
                <a:solidFill>
                  <a:srgbClr val="9CB2BC"/>
                </a:solidFill>
                <a:latin typeface="Avenir Next"/>
                <a:ea typeface="Avenir Next"/>
                <a:cs typeface="Avenir Next"/>
              </a:defRPr>
            </a:pPr>
            <a:r>
              <a:rPr sz="1725" b="0">
                <a:solidFill>
                  <a:srgbClr val="9CB2BC"/>
                </a:solidFill>
                <a:latin typeface="Avenir Next"/>
                <a:ea typeface="Avenir Next"/>
                <a:cs typeface="Avenir Next"/>
              </a:rPr>
              <a:t>records within 5 km</a:t>
            </a:r>
          </a:p>
        </p:txBody>
      </p:sp>
      <p:sp>
        <p:nvSpPr>
          <p:cNvPr id="13" name="">
            <a:extLst xmlns:a="http://schemas.openxmlformats.org/drawingml/2006/main">
              <a:ext uri="{FF2B5EF4-FFF2-40B4-BE49-F238E27FC236}">
                <a16:creationId xmlns:a16="http://schemas.microsoft.com/office/drawing/2014/main" id="{0C23FDA6-27F7-4FE6-A719-43B5423F65B7}"/>
              </a:ext>
            </a:extLst>
          </p:cNvPr>
          <p:cNvSpPr>
            <a:spLocks xmlns:a="http://schemas.openxmlformats.org/drawingml/2006/main" noGrp="1"/>
          </p:cNvSpPr>
          <p:nvPr/>
        </p:nvSpPr>
        <p:spPr>
          <a:xfrm xmlns:a="http://schemas.openxmlformats.org/drawingml/2006/main">
            <a:off x="800100" y="5991225"/>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F0AA6B"/>
                </a:solidFill>
                <a:latin typeface="Avenir Next"/>
                <a:ea typeface="Avenir Next"/>
                <a:cs typeface="Avenir Next"/>
              </a:defRPr>
            </a:pPr>
            <a:r>
              <a:rPr sz="1800" b="0">
                <a:solidFill>
                  <a:srgbClr val="F0AA6B"/>
                </a:solidFill>
                <a:latin typeface="Avenir Next"/>
                <a:ea typeface="Avenir Next"/>
                <a:cs typeface="Avenir Next"/>
              </a:rPr>
              <a:t>Power capacity, fiber performance and parcel availability remain unverified.</a:t>
            </a:r>
          </a:p>
        </p:txBody>
      </p:sp>
    </p:spTree>
    <p:extLst>
      <p:ext uri="{BB962C8B-B14F-4D97-AF65-F5344CB8AC3E}">
        <p14:creationId xmlns:p14="http://schemas.microsoft.com/office/powerpoint/2010/main" val="857589131"/>
      </p:ext>
    </p:extLst>
  </p:cSld>
</p:sld>
</file>

<file path=ppt/slides/slide7.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8" name="s7-title">
            <a:extLst xmlns:a="http://schemas.openxmlformats.org/drawingml/2006/main">
              <a:ext uri="{FF2B5EF4-FFF2-40B4-BE49-F238E27FC236}">
                <a16:creationId xmlns:a16="http://schemas.microsoft.com/office/drawing/2014/main" id="{66F8422F-3971-4F7A-8AFD-2CE797F89F68}"/>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venir Next"/>
                <a:ea typeface="Avenir Next"/>
                <a:cs typeface="Avenir Next"/>
              </a:defRPr>
            </a:pPr>
            <a:r>
              <a:rPr sz="3375" b="1">
                <a:solidFill>
                  <a:srgbClr val="EEF6F4"/>
                </a:solidFill>
                <a:latin typeface="Avenir Next"/>
                <a:ea typeface="Avenir Next"/>
                <a:cs typeface="Avenir Next"/>
              </a:rPr>
              <a:t>The next decision requires measured feasibility</a:t>
            </a:r>
          </a:p>
        </p:txBody>
      </p:sp>
      <p:sp>
        <p:nvSpPr>
          <p:cNvPr id="2" name="s7-number">
            <a:extLst xmlns:a="http://schemas.openxmlformats.org/drawingml/2006/main">
              <a:ext uri="{FF2B5EF4-FFF2-40B4-BE49-F238E27FC236}">
                <a16:creationId xmlns:a16="http://schemas.microsoft.com/office/drawing/2014/main" id="{3E0B3370-24CE-45BD-846B-9C2303A9A57E}"/>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venir Next"/>
                <a:ea typeface="Avenir Next"/>
                <a:cs typeface="Avenir Next"/>
              </a:defRPr>
            </a:pPr>
            <a:r>
              <a:rPr sz="1350" b="0">
                <a:solidFill>
                  <a:srgbClr val="9CB2BC"/>
                </a:solidFill>
                <a:latin typeface="Avenir Next"/>
                <a:ea typeface="Avenir Next"/>
                <a:cs typeface="Avenir Next"/>
              </a:rPr>
              <a:t>07/07</a:t>
            </a:r>
          </a:p>
        </p:txBody>
      </p:sp>
      <p:sp>
        <p:nvSpPr>
          <p:cNvPr id="3" name="">
            <a:extLst xmlns:a="http://schemas.openxmlformats.org/drawingml/2006/main">
              <a:ext uri="{FF2B5EF4-FFF2-40B4-BE49-F238E27FC236}">
                <a16:creationId xmlns:a16="http://schemas.microsoft.com/office/drawing/2014/main" id="{B5F2AEAA-0E43-45B9-9D85-AB6E8A6F92BE}"/>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61E3EA6E-AA57-46F7-A737-3B4C238DB309}"/>
              </a:ext>
            </a:extLst>
          </p:cNvPr>
          <p:cNvSpPr>
            <a:spLocks xmlns:a="http://schemas.openxmlformats.org/drawingml/2006/main" noGrp="1"/>
          </p:cNvSpPr>
          <p:nvPr/>
        </p:nvSpPr>
        <p:spPr>
          <a:xfrm xmlns:a="http://schemas.openxmlformats.org/drawingml/2006/main">
            <a:off x="1524000" y="3333750"/>
            <a:ext cx="9201150" cy="0"/>
          </a:xfrm>
          <a:prstGeom xmlns:a="http://schemas.openxmlformats.org/drawingml/2006/main" prst="line">
            <a:avLst/>
          </a:prstGeom>
          <a:noFill xmlns:a="http://schemas.openxmlformats.org/drawingml/2006/main"/>
          <a:ln xmlns:a="http://schemas.openxmlformats.org/drawingml/2006/main" w="38100">
            <a:solidFill>
              <a:srgbClr val="294451"/>
            </a:solidFill>
            <a:prstDash val="solid"/>
          </a:ln>
        </p:spPr>
      </p:sp>
      <p:sp>
        <p:nvSpPr>
          <p:cNvPr id="5" name="">
            <a:extLst xmlns:a="http://schemas.openxmlformats.org/drawingml/2006/main">
              <a:ext uri="{FF2B5EF4-FFF2-40B4-BE49-F238E27FC236}">
                <a16:creationId xmlns:a16="http://schemas.microsoft.com/office/drawing/2014/main" id="{0504D3C2-D013-4802-AC11-95DAB44E2CD6}"/>
              </a:ext>
            </a:extLst>
          </p:cNvPr>
          <p:cNvSpPr>
            <a:spLocks xmlns:a="http://schemas.openxmlformats.org/drawingml/2006/main" noGrp="1"/>
          </p:cNvSpPr>
          <p:nvPr/>
        </p:nvSpPr>
        <p:spPr>
          <a:xfrm xmlns:a="http://schemas.openxmlformats.org/drawingml/2006/main">
            <a:off x="1828800" y="3190875"/>
            <a:ext cx="285750" cy="2857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6" name="">
            <a:extLst xmlns:a="http://schemas.openxmlformats.org/drawingml/2006/main">
              <a:ext uri="{FF2B5EF4-FFF2-40B4-BE49-F238E27FC236}">
                <a16:creationId xmlns:a16="http://schemas.microsoft.com/office/drawing/2014/main" id="{46F1627B-3BF0-4B89-889B-89920DFFC524}"/>
              </a:ext>
            </a:extLst>
          </p:cNvPr>
          <p:cNvSpPr>
            <a:spLocks xmlns:a="http://schemas.openxmlformats.org/drawingml/2006/main" noGrp="1"/>
          </p:cNvSpPr>
          <p:nvPr/>
        </p:nvSpPr>
        <p:spPr>
          <a:xfrm xmlns:a="http://schemas.openxmlformats.org/drawingml/2006/main">
            <a:off x="1095375" y="2457450"/>
            <a:ext cx="1752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a:solidFill>
                  <a:srgbClr val="F0AA6B"/>
                </a:solidFill>
                <a:latin typeface="Avenir Next"/>
                <a:ea typeface="Avenir Next"/>
                <a:cs typeface="Avenir Next"/>
              </a:defRPr>
            </a:pPr>
            <a:r>
              <a:rPr sz="2775" b="1">
                <a:solidFill>
                  <a:srgbClr val="F0AA6B"/>
                </a:solidFill>
                <a:latin typeface="Avenir Next"/>
                <a:ea typeface="Avenir Next"/>
                <a:cs typeface="Avenir Next"/>
              </a:rPr>
              <a:t>2030</a:t>
            </a:r>
          </a:p>
        </p:txBody>
      </p:sp>
      <p:sp>
        <p:nvSpPr>
          <p:cNvPr id="7" name="">
            <a:extLst xmlns:a="http://schemas.openxmlformats.org/drawingml/2006/main">
              <a:ext uri="{FF2B5EF4-FFF2-40B4-BE49-F238E27FC236}">
                <a16:creationId xmlns:a16="http://schemas.microsoft.com/office/drawing/2014/main" id="{44EC58AE-2A6A-4E98-8F68-62A62599E1AE}"/>
              </a:ext>
            </a:extLst>
          </p:cNvPr>
          <p:cNvSpPr>
            <a:spLocks xmlns:a="http://schemas.openxmlformats.org/drawingml/2006/main" noGrp="1"/>
          </p:cNvSpPr>
          <p:nvPr/>
        </p:nvSpPr>
        <p:spPr>
          <a:xfrm xmlns:a="http://schemas.openxmlformats.org/drawingml/2006/main">
            <a:off x="495300" y="3838575"/>
            <a:ext cx="295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EEF6F4"/>
                </a:solidFill>
                <a:latin typeface="Avenir Next"/>
                <a:ea typeface="Avenir Next"/>
                <a:cs typeface="Avenir Next"/>
              </a:defRPr>
            </a:pPr>
            <a:r>
              <a:rPr sz="1875" b="1">
                <a:solidFill>
                  <a:srgbClr val="EEF6F4"/>
                </a:solidFill>
                <a:latin typeface="Avenir Next"/>
                <a:ea typeface="Avenir Next"/>
                <a:cs typeface="Avenir Next"/>
              </a:rPr>
              <a:t>VERIFY</a:t>
            </a:r>
          </a:p>
        </p:txBody>
      </p:sp>
      <p:sp>
        <p:nvSpPr>
          <p:cNvPr id="8" name="">
            <a:extLst xmlns:a="http://schemas.openxmlformats.org/drawingml/2006/main">
              <a:ext uri="{FF2B5EF4-FFF2-40B4-BE49-F238E27FC236}">
                <a16:creationId xmlns:a16="http://schemas.microsoft.com/office/drawing/2014/main" id="{8B3ACEA8-DE26-4992-9608-0DAF4CEC630C}"/>
              </a:ext>
            </a:extLst>
          </p:cNvPr>
          <p:cNvSpPr>
            <a:spLocks xmlns:a="http://schemas.openxmlformats.org/drawingml/2006/main" noGrp="1"/>
          </p:cNvSpPr>
          <p:nvPr/>
        </p:nvSpPr>
        <p:spPr>
          <a:xfrm xmlns:a="http://schemas.openxmlformats.org/drawingml/2006/main">
            <a:off x="304800" y="436245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9CB2BC"/>
                </a:solidFill>
                <a:latin typeface="Avenir Next"/>
                <a:ea typeface="Avenir Next"/>
                <a:cs typeface="Avenir Next"/>
              </a:defRPr>
            </a:pPr>
            <a:r>
              <a:rPr sz="1800" b="0">
                <a:solidFill>
                  <a:srgbClr val="9CB2BC"/>
                </a:solidFill>
                <a:latin typeface="Avenir Next"/>
                <a:ea typeface="Avenir Next"/>
                <a:cs typeface="Avenir Next"/>
              </a:rPr>
              <a:t>Parcel, utility</a:t>
            </a:r>
          </a:p>
          <a:p xmlns:a="http://schemas.openxmlformats.org/drawingml/2006/main">
            <a:pPr algn="ctr">
              <a:defRPr sz="1800" b="0">
                <a:solidFill>
                  <a:srgbClr val="9CB2BC"/>
                </a:solidFill>
                <a:latin typeface="Avenir Next"/>
                <a:ea typeface="Avenir Next"/>
                <a:cs typeface="Avenir Next"/>
              </a:defRPr>
            </a:pPr>
            <a:r>
              <a:rPr sz="1800" b="0">
                <a:solidFill>
                  <a:srgbClr val="9CB2BC"/>
                </a:solidFill>
                <a:latin typeface="Avenir Next"/>
                <a:ea typeface="Avenir Next"/>
                <a:cs typeface="Avenir Next"/>
              </a:rPr>
              <a:t>and carrier checks</a:t>
            </a:r>
          </a:p>
        </p:txBody>
      </p:sp>
      <p:sp>
        <p:nvSpPr>
          <p:cNvPr id="9" name="">
            <a:extLst xmlns:a="http://schemas.openxmlformats.org/drawingml/2006/main">
              <a:ext uri="{FF2B5EF4-FFF2-40B4-BE49-F238E27FC236}">
                <a16:creationId xmlns:a16="http://schemas.microsoft.com/office/drawing/2014/main" id="{702080E6-FADD-49E2-AC7A-6DA57B679C26}"/>
              </a:ext>
            </a:extLst>
          </p:cNvPr>
          <p:cNvSpPr>
            <a:spLocks xmlns:a="http://schemas.openxmlformats.org/drawingml/2006/main" noGrp="1"/>
          </p:cNvSpPr>
          <p:nvPr/>
        </p:nvSpPr>
        <p:spPr>
          <a:xfrm xmlns:a="http://schemas.openxmlformats.org/drawingml/2006/main">
            <a:off x="5972175" y="3190875"/>
            <a:ext cx="285750" cy="2857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10" name="">
            <a:extLst xmlns:a="http://schemas.openxmlformats.org/drawingml/2006/main">
              <a:ext uri="{FF2B5EF4-FFF2-40B4-BE49-F238E27FC236}">
                <a16:creationId xmlns:a16="http://schemas.microsoft.com/office/drawing/2014/main" id="{2A2E0EF1-1A0D-4688-B3D8-8D2B55011DC1}"/>
              </a:ext>
            </a:extLst>
          </p:cNvPr>
          <p:cNvSpPr>
            <a:spLocks xmlns:a="http://schemas.openxmlformats.org/drawingml/2006/main" noGrp="1"/>
          </p:cNvSpPr>
          <p:nvPr/>
        </p:nvSpPr>
        <p:spPr>
          <a:xfrm xmlns:a="http://schemas.openxmlformats.org/drawingml/2006/main">
            <a:off x="5238750" y="2457450"/>
            <a:ext cx="1752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a:solidFill>
                  <a:srgbClr val="58D8E4"/>
                </a:solidFill>
                <a:latin typeface="Avenir Next"/>
                <a:ea typeface="Avenir Next"/>
                <a:cs typeface="Avenir Next"/>
              </a:defRPr>
            </a:pPr>
            <a:r>
              <a:rPr sz="2775" b="1">
                <a:solidFill>
                  <a:srgbClr val="58D8E4"/>
                </a:solidFill>
                <a:latin typeface="Avenir Next"/>
                <a:ea typeface="Avenir Next"/>
                <a:cs typeface="Avenir Next"/>
              </a:rPr>
              <a:t>2040</a:t>
            </a:r>
          </a:p>
        </p:txBody>
      </p:sp>
      <p:sp>
        <p:nvSpPr>
          <p:cNvPr id="11" name="">
            <a:extLst xmlns:a="http://schemas.openxmlformats.org/drawingml/2006/main">
              <a:ext uri="{FF2B5EF4-FFF2-40B4-BE49-F238E27FC236}">
                <a16:creationId xmlns:a16="http://schemas.microsoft.com/office/drawing/2014/main" id="{84FB6A04-5B3F-4AF5-B0BF-0E9E085B37D6}"/>
              </a:ext>
            </a:extLst>
          </p:cNvPr>
          <p:cNvSpPr>
            <a:spLocks xmlns:a="http://schemas.openxmlformats.org/drawingml/2006/main" noGrp="1"/>
          </p:cNvSpPr>
          <p:nvPr/>
        </p:nvSpPr>
        <p:spPr>
          <a:xfrm xmlns:a="http://schemas.openxmlformats.org/drawingml/2006/main">
            <a:off x="4638675" y="3838575"/>
            <a:ext cx="295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EEF6F4"/>
                </a:solidFill>
                <a:latin typeface="Avenir Next"/>
                <a:ea typeface="Avenir Next"/>
                <a:cs typeface="Avenir Next"/>
              </a:defRPr>
            </a:pPr>
            <a:r>
              <a:rPr sz="1875" b="1">
                <a:solidFill>
                  <a:srgbClr val="EEF6F4"/>
                </a:solidFill>
                <a:latin typeface="Avenir Next"/>
                <a:ea typeface="Avenir Next"/>
                <a:cs typeface="Avenir Next"/>
              </a:rPr>
              <a:t>PHASE</a:t>
            </a:r>
          </a:p>
        </p:txBody>
      </p:sp>
      <p:sp>
        <p:nvSpPr>
          <p:cNvPr id="12" name="">
            <a:extLst xmlns:a="http://schemas.openxmlformats.org/drawingml/2006/main">
              <a:ext uri="{FF2B5EF4-FFF2-40B4-BE49-F238E27FC236}">
                <a16:creationId xmlns:a16="http://schemas.microsoft.com/office/drawing/2014/main" id="{5A82D33F-4D5A-405C-8EB4-E46C13BE64DE}"/>
              </a:ext>
            </a:extLst>
          </p:cNvPr>
          <p:cNvSpPr>
            <a:spLocks xmlns:a="http://schemas.openxmlformats.org/drawingml/2006/main" noGrp="1"/>
          </p:cNvSpPr>
          <p:nvPr/>
        </p:nvSpPr>
        <p:spPr>
          <a:xfrm xmlns:a="http://schemas.openxmlformats.org/drawingml/2006/main">
            <a:off x="4448175" y="436245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9CB2BC"/>
                </a:solidFill>
                <a:latin typeface="Avenir Next"/>
                <a:ea typeface="Avenir Next"/>
                <a:cs typeface="Avenir Next"/>
              </a:defRPr>
            </a:pPr>
            <a:r>
              <a:rPr sz="1800" b="0">
                <a:solidFill>
                  <a:srgbClr val="9CB2BC"/>
                </a:solidFill>
                <a:latin typeface="Avenir Next"/>
                <a:ea typeface="Avenir Next"/>
                <a:cs typeface="Avenir Next"/>
              </a:rPr>
              <a:t>Inference nodes near demand</a:t>
            </a:r>
          </a:p>
          <a:p xmlns:a="http://schemas.openxmlformats.org/drawingml/2006/main">
            <a:pPr algn="ctr">
              <a:defRPr sz="1800" b="0">
                <a:solidFill>
                  <a:srgbClr val="9CB2BC"/>
                </a:solidFill>
                <a:latin typeface="Avenir Next"/>
                <a:ea typeface="Avenir Next"/>
                <a:cs typeface="Avenir Next"/>
              </a:defRPr>
            </a:pPr>
            <a:r>
              <a:rPr sz="1800" b="0">
                <a:solidFill>
                  <a:srgbClr val="9CB2BC"/>
                </a:solidFill>
                <a:latin typeface="Avenir Next"/>
                <a:ea typeface="Avenir Next"/>
                <a:cs typeface="Avenir Next"/>
              </a:rPr>
              <a:t>with contracted heat reuse</a:t>
            </a:r>
          </a:p>
        </p:txBody>
      </p:sp>
      <p:sp>
        <p:nvSpPr>
          <p:cNvPr id="13" name="">
            <a:extLst xmlns:a="http://schemas.openxmlformats.org/drawingml/2006/main">
              <a:ext uri="{FF2B5EF4-FFF2-40B4-BE49-F238E27FC236}">
                <a16:creationId xmlns:a16="http://schemas.microsoft.com/office/drawing/2014/main" id="{CD1D23C3-67B5-4A2F-AC0A-937A052409DC}"/>
              </a:ext>
            </a:extLst>
          </p:cNvPr>
          <p:cNvSpPr>
            <a:spLocks xmlns:a="http://schemas.openxmlformats.org/drawingml/2006/main" noGrp="1"/>
          </p:cNvSpPr>
          <p:nvPr/>
        </p:nvSpPr>
        <p:spPr>
          <a:xfrm xmlns:a="http://schemas.openxmlformats.org/drawingml/2006/main">
            <a:off x="10153650" y="3190875"/>
            <a:ext cx="285750" cy="285750"/>
          </a:xfrm>
          <a:prstGeom xmlns:a="http://schemas.openxmlformats.org/drawingml/2006/main" prst="ellipse">
            <a:avLst/>
          </a:prstGeom>
          <a:solidFill xmlns:a="http://schemas.openxmlformats.org/drawingml/2006/main">
            <a:srgbClr val="89D9BF"/>
          </a:solidFill>
          <a:ln xmlns:a="http://schemas.openxmlformats.org/drawingml/2006/main" w="19050">
            <a:solidFill>
              <a:srgbClr val="071722"/>
            </a:solidFill>
            <a:prstDash val="solid"/>
          </a:ln>
        </p:spPr>
      </p:sp>
      <p:sp>
        <p:nvSpPr>
          <p:cNvPr id="14" name="">
            <a:extLst xmlns:a="http://schemas.openxmlformats.org/drawingml/2006/main">
              <a:ext uri="{FF2B5EF4-FFF2-40B4-BE49-F238E27FC236}">
                <a16:creationId xmlns:a16="http://schemas.microsoft.com/office/drawing/2014/main" id="{F1EAC44F-2D0B-4DA6-831B-407495247699}"/>
              </a:ext>
            </a:extLst>
          </p:cNvPr>
          <p:cNvSpPr>
            <a:spLocks xmlns:a="http://schemas.openxmlformats.org/drawingml/2006/main" noGrp="1"/>
          </p:cNvSpPr>
          <p:nvPr/>
        </p:nvSpPr>
        <p:spPr>
          <a:xfrm xmlns:a="http://schemas.openxmlformats.org/drawingml/2006/main">
            <a:off x="9420225" y="2457450"/>
            <a:ext cx="1752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a:solidFill>
                  <a:srgbClr val="89D9BF"/>
                </a:solidFill>
                <a:latin typeface="Avenir Next"/>
                <a:ea typeface="Avenir Next"/>
                <a:cs typeface="Avenir Next"/>
              </a:defRPr>
            </a:pPr>
            <a:r>
              <a:rPr sz="2775" b="1">
                <a:solidFill>
                  <a:srgbClr val="89D9BF"/>
                </a:solidFill>
                <a:latin typeface="Avenir Next"/>
                <a:ea typeface="Avenir Next"/>
                <a:cs typeface="Avenir Next"/>
              </a:rPr>
              <a:t>2050</a:t>
            </a:r>
          </a:p>
        </p:txBody>
      </p:sp>
      <p:sp>
        <p:nvSpPr>
          <p:cNvPr id="15" name="">
            <a:extLst xmlns:a="http://schemas.openxmlformats.org/drawingml/2006/main">
              <a:ext uri="{FF2B5EF4-FFF2-40B4-BE49-F238E27FC236}">
                <a16:creationId xmlns:a16="http://schemas.microsoft.com/office/drawing/2014/main" id="{3CCEBCE9-5659-4905-AC61-EBB0E7087387}"/>
              </a:ext>
            </a:extLst>
          </p:cNvPr>
          <p:cNvSpPr>
            <a:spLocks xmlns:a="http://schemas.openxmlformats.org/drawingml/2006/main" noGrp="1"/>
          </p:cNvSpPr>
          <p:nvPr/>
        </p:nvSpPr>
        <p:spPr>
          <a:xfrm xmlns:a="http://schemas.openxmlformats.org/drawingml/2006/main">
            <a:off x="8820150" y="3838575"/>
            <a:ext cx="295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EEF6F4"/>
                </a:solidFill>
                <a:latin typeface="Avenir Next"/>
                <a:ea typeface="Avenir Next"/>
                <a:cs typeface="Avenir Next"/>
              </a:defRPr>
            </a:pPr>
            <a:r>
              <a:rPr sz="1875" b="1">
                <a:solidFill>
                  <a:srgbClr val="EEF6F4"/>
                </a:solidFill>
                <a:latin typeface="Avenir Next"/>
                <a:ea typeface="Avenir Next"/>
                <a:cs typeface="Avenir Next"/>
              </a:rPr>
              <a:t>REASSESS</a:t>
            </a:r>
          </a:p>
        </p:txBody>
      </p:sp>
      <p:sp>
        <p:nvSpPr>
          <p:cNvPr id="16" name="">
            <a:extLst xmlns:a="http://schemas.openxmlformats.org/drawingml/2006/main">
              <a:ext uri="{FF2B5EF4-FFF2-40B4-BE49-F238E27FC236}">
                <a16:creationId xmlns:a16="http://schemas.microsoft.com/office/drawing/2014/main" id="{7220D967-8194-425D-B1D5-21902F1CC016}"/>
              </a:ext>
            </a:extLst>
          </p:cNvPr>
          <p:cNvSpPr>
            <a:spLocks xmlns:a="http://schemas.openxmlformats.org/drawingml/2006/main" noGrp="1"/>
          </p:cNvSpPr>
          <p:nvPr/>
        </p:nvSpPr>
        <p:spPr>
          <a:xfrm xmlns:a="http://schemas.openxmlformats.org/drawingml/2006/main">
            <a:off x="8629650" y="436245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a:solidFill>
                  <a:srgbClr val="9CB2BC"/>
                </a:solidFill>
                <a:latin typeface="Avenir Next"/>
                <a:ea typeface="Avenir Next"/>
                <a:cs typeface="Avenir Next"/>
              </a:defRPr>
            </a:pPr>
            <a:r>
              <a:rPr sz="1800" b="0">
                <a:solidFill>
                  <a:srgbClr val="9CB2BC"/>
                </a:solidFill>
                <a:latin typeface="Avenir Next"/>
                <a:ea typeface="Avenir Next"/>
                <a:cs typeface="Avenir Next"/>
              </a:rPr>
              <a:t>Hardware, grid, water</a:t>
            </a:r>
          </a:p>
          <a:p xmlns:a="http://schemas.openxmlformats.org/drawingml/2006/main">
            <a:pPr algn="ctr">
              <a:defRPr sz="1800" b="0">
                <a:solidFill>
                  <a:srgbClr val="9CB2BC"/>
                </a:solidFill>
                <a:latin typeface="Avenir Next"/>
                <a:ea typeface="Avenir Next"/>
                <a:cs typeface="Avenir Next"/>
              </a:defRPr>
            </a:pPr>
            <a:r>
              <a:rPr sz="1800" b="0">
                <a:solidFill>
                  <a:srgbClr val="9CB2BC"/>
                </a:solidFill>
                <a:latin typeface="Avenir Next"/>
                <a:ea typeface="Avenir Next"/>
                <a:cs typeface="Avenir Next"/>
              </a:rPr>
              <a:t>and climate risk</a:t>
            </a:r>
          </a:p>
        </p:txBody>
      </p:sp>
      <p:sp>
        <p:nvSpPr>
          <p:cNvPr id="17" name="">
            <a:extLst xmlns:a="http://schemas.openxmlformats.org/drawingml/2006/main">
              <a:ext uri="{FF2B5EF4-FFF2-40B4-BE49-F238E27FC236}">
                <a16:creationId xmlns:a16="http://schemas.microsoft.com/office/drawing/2014/main" id="{E90E7B7F-9C19-4D1C-957B-CFF63AEC7C06}"/>
              </a:ext>
            </a:extLst>
          </p:cNvPr>
          <p:cNvSpPr>
            <a:spLocks xmlns:a="http://schemas.openxmlformats.org/drawingml/2006/main" noGrp="1"/>
          </p:cNvSpPr>
          <p:nvPr/>
        </p:nvSpPr>
        <p:spPr>
          <a:xfrm xmlns:a="http://schemas.openxmlformats.org/drawingml/2006/main">
            <a:off x="838200" y="5991225"/>
            <a:ext cx="105060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0">
                <a:solidFill>
                  <a:srgbClr val="9CB2BC"/>
                </a:solidFill>
                <a:latin typeface="Avenir Next"/>
                <a:ea typeface="Avenir Next"/>
                <a:cs typeface="Avenir Next"/>
              </a:defRPr>
            </a:pPr>
            <a:r>
              <a:rPr sz="1725" b="0">
                <a:solidFill>
                  <a:srgbClr val="9CB2BC"/>
                </a:solidFill>
                <a:latin typeface="Avenir Next"/>
                <a:ea typeface="Avenir Next"/>
                <a:cs typeface="Avenir Next"/>
              </a:rPr>
              <a:t>Conditional implementation vision</a:t>
            </a:r>
          </a:p>
        </p:txBody>
      </p:sp>
    </p:spTree>
    <p:extLst>
      <p:ext uri="{BB962C8B-B14F-4D97-AF65-F5344CB8AC3E}">
        <p14:creationId xmlns:p14="http://schemas.microsoft.com/office/powerpoint/2010/main" val="6889312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2026-10-04T01:32:49.4080000Z</dcterms:created>
  <dcterms:modified xsi:type="dcterms:W3CDTF">2026-10-04T01:32:49.4080000Z</dcterms:modified>
</coreProperties>
</file>