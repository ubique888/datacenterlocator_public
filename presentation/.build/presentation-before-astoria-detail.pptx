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b316211fab4731" /><Relationship Type="http://schemas.openxmlformats.org/officeDocument/2006/relationships/extended-properties" Target="/docProps/app.xml" Id="R211a5351055c4609" /><Relationship Type="http://schemas.openxmlformats.org/officeDocument/2006/relationships/officeDocument" Target="/ppt/presentation.xml" Id="R1893976669024bc1" /></Relationships>
</file>

<file path=ppt/presentation.xml><?xml version="1.0" encoding="utf-8"?>
<p:presentation xmlns:p="http://schemas.openxmlformats.org/presentationml/2006/main">
  <p:sldMasterIdLst>
    <p:sldMasterId xmlns:r="http://schemas.openxmlformats.org/officeDocument/2006/relationships" id="2147483648" r:id="Rd1bb820321af4f96"/>
  </p:sldMasterIdLst>
  <p:notesMasterIdLst>
    <p:notesMasterId xmlns:r="http://schemas.openxmlformats.org/officeDocument/2006/relationships" r:id="Rd79a234853ec43e7"/>
  </p:notesMasterIdLst>
  <p:sldIdLst>
    <p:sldId xmlns:r="http://schemas.openxmlformats.org/officeDocument/2006/relationships" id="256" r:id="R48ac39ef6d60443c"/>
    <p:sldId xmlns:r="http://schemas.openxmlformats.org/officeDocument/2006/relationships" id="257" r:id="R08bfc94e9c2848ef"/>
    <p:sldId xmlns:r="http://schemas.openxmlformats.org/officeDocument/2006/relationships" id="258" r:id="Rbcd9843624924b0c"/>
    <p:sldId xmlns:r="http://schemas.openxmlformats.org/officeDocument/2006/relationships" id="259" r:id="R047a8c6c2d1644f1"/>
    <p:sldId xmlns:r="http://schemas.openxmlformats.org/officeDocument/2006/relationships" id="260" r:id="R3d2ea190832d49b2"/>
    <p:sldId xmlns:r="http://schemas.openxmlformats.org/officeDocument/2006/relationships" id="261" r:id="R44853873917245d1"/>
    <p:sldId xmlns:r="http://schemas.openxmlformats.org/officeDocument/2006/relationships" id="262" r:id="R782c6feace134f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fb635131ac4326" /><Relationship Type="http://schemas.openxmlformats.org/officeDocument/2006/relationships/slideMaster" Target="/ppt/slideMasters/slideMaster1.xml" Id="Rd1bb820321af4f96" /><Relationship Type="http://schemas.openxmlformats.org/officeDocument/2006/relationships/notesMaster" Target="/ppt/notesMasters/notesMaster1.xml" Id="Rd79a234853ec43e7" /><Relationship Type="http://schemas.openxmlformats.org/officeDocument/2006/relationships/presProps" Target="/ppt/presProps.xml" Id="R9bfea657ed7c499b" /><Relationship Type="http://schemas.openxmlformats.org/officeDocument/2006/relationships/tableStyles" Target="/ppt/tableStyles.xml" Id="Rb83cbe5e705a442a" /><Relationship Type="http://schemas.openxmlformats.org/officeDocument/2006/relationships/slide" Target="/ppt/slides/slide1.xml" Id="R48ac39ef6d60443c" /><Relationship Type="http://schemas.openxmlformats.org/officeDocument/2006/relationships/slide" Target="/ppt/slides/slide2.xml" Id="R08bfc94e9c2848ef" /><Relationship Type="http://schemas.openxmlformats.org/officeDocument/2006/relationships/slide" Target="/ppt/slides/slide3.xml" Id="Rbcd9843624924b0c" /><Relationship Type="http://schemas.openxmlformats.org/officeDocument/2006/relationships/slide" Target="/ppt/slides/slide4.xml" Id="R047a8c6c2d1644f1" /><Relationship Type="http://schemas.openxmlformats.org/officeDocument/2006/relationships/slide" Target="/ppt/slides/slide5.xml" Id="R3d2ea190832d49b2" /><Relationship Type="http://schemas.openxmlformats.org/officeDocument/2006/relationships/slide" Target="/ppt/slides/slide6.xml" Id="R44853873917245d1" /><Relationship Type="http://schemas.openxmlformats.org/officeDocument/2006/relationships/slide" Target="/ppt/slides/slide7.xml" Id="R782c6feace134f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ba3a63deda4f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a299b4200745d1" /><Relationship Type="http://schemas.openxmlformats.org/officeDocument/2006/relationships/notesMaster" Target="/ppt/notesMasters/notesMaster1.xml" Id="Rcb4ef5e541fa47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1b892b1cf54882" /><Relationship Type="http://schemas.openxmlformats.org/officeDocument/2006/relationships/notesMaster" Target="/ppt/notesMasters/notesMaster1.xml" Id="R1a7f0e61480040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1b531eb25b4003" /><Relationship Type="http://schemas.openxmlformats.org/officeDocument/2006/relationships/notesMaster" Target="/ppt/notesMasters/notesMaster1.xml" Id="R64e5865ea7484a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c7ef1e27c041bb" /><Relationship Type="http://schemas.openxmlformats.org/officeDocument/2006/relationships/notesMaster" Target="/ppt/notesMasters/notesMaster1.xml" Id="R0e796e052d0247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5e70ad8aa24b60" /><Relationship Type="http://schemas.openxmlformats.org/officeDocument/2006/relationships/notesMaster" Target="/ppt/notesMasters/notesMaster1.xml" Id="R03fc46d472894d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7c2b2f2e854197" /><Relationship Type="http://schemas.openxmlformats.org/officeDocument/2006/relationships/notesMaster" Target="/ppt/notesMasters/notesMaster1.xml" Id="R061a66dc64284b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43457b4f454ee8" /><Relationship Type="http://schemas.openxmlformats.org/officeDocument/2006/relationships/notesMaster" Target="/ppt/notesMasters/notesMaster1.xml" Id="R1b4bab66e4734c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obvious answer for a data center is cheap land far from the city. Our project asks whether that changes for interactive AI inference. A request has to reach the model and return to the user, so the right location can depend on the network and the people it serves. We are testing an urban industrial site as a compact inference node, with slower work sent to a lower-cost regional facility. This is a siting hypothesis, not a measured latency result.</a:t>
            </a:r>
          </a:p>
          <a:p xmlns:a="http://schemas.openxmlformats.org/drawingml/2006/main">
            <a:r>
              <a:t/>
            </a:r>
          </a:p>
          <a:p xmlns:a="http://schemas.openxmlformats.org/drawingml/2006/main">
            <a:r>
              <a:t>Source: `../docs/six_page_story.md`,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Density cuts both ways. Urban land is contested, grid connections can be difficult, and permits and community impacts matter. The same area may also contain users, network facilities, skilled workers, industrial land and customers for waste heat. Our locator measures some physical proximity, especially grid, selected industry and treatment plants. It does not price land or prove a workforce, a heat contract or a fiber route. We therefore treat density as a reason to investigate specific sites, not as an automatic sustainability advantage.</a:t>
            </a:r>
          </a:p>
          <a:p xmlns:a="http://schemas.openxmlformats.org/drawingml/2006/main">
            <a:r>
              <a:t/>
            </a:r>
          </a:p>
          <a:p xmlns:a="http://schemas.openxmlformats.org/drawingml/2006/main">
            <a:r>
              <a:t>Source: `../docs/six_page_story.md`, Page 2;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is the project thesis. A prospective inference site sits inside six surrounding systems. Grid assets may support an interconnection. Carrier routes and nearby users make a metro service plausible. Industrial neighbors might use low-grade heat. A treatment plant might support a reclaimed-water cooling design. Reusing an industrial footprint may reduce some new land or material needs. The current project maps candidate points and nearby source records. It does not prove any connection, available megawatts, usable water, heat demand or parcel rights. Each link is a due-diligence question.</a:t>
            </a:r>
          </a:p>
          <a:p xmlns:a="http://schemas.openxmlformats.org/drawingml/2006/main">
            <a:r>
              <a:t/>
            </a:r>
          </a:p>
          <a:p xmlns:a="http://schemas.openxmlformats.org/drawingml/2006/main">
            <a:r>
              <a:t>Source: `../README_DATA.md`, Steps 1–12; `../outputs/validation/validation_report.md`.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we have actually built. We start with 190,976 EPA RE-Powering records. Reported acreage and grid-distance thresholds yield 8,479 screened candidates. Each receives two separate opportunity scores. Infrastructure inheritance uses former power, transmission, substation, land and transport evidence. Industrial symbiosis uses selected manufacturing proximity and treatment-plant opportunity. The explorer exposes source values and a five-kilometer local ecosystem. Connectivity indicators sit in a separate preview, not in either score. The original 50-acre threshold also means compact urban parcels are missing from this candidate pool.</a:t>
            </a:r>
          </a:p>
          <a:p xmlns:a="http://schemas.openxmlformats.org/drawingml/2006/main">
            <a:r>
              <a:t/>
            </a:r>
          </a:p>
          <a:p xmlns:a="http://schemas.openxmlformats.org/drawingml/2006/main">
            <a:r>
              <a:t>Source: `../outputs/validation/step1_summary.json`; `../outputs/validation/step7_summary.json`;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axes make tradeoffs visible. Astoria and the Salem-area New England Power Company record both clear the current high-high thresholds. Indian Point has stronger inheritance but less surrounding symbiosis. Davis Street shows the opposite pattern and has an active facility-use question. Scores narrow the field. They do not settle parcel availability or data-center feasibility. The separate connectivity view tells us which facilities to investigate further, but its distance to a listed IXP-hosting building cannot establish user latency or a fiber contract.</a:t>
            </a:r>
          </a:p>
          <a:p xmlns:a="http://schemas.openxmlformats.org/drawingml/2006/main">
            <a:r>
              <a:t/>
            </a:r>
          </a:p>
          <a:p xmlns:a="http://schemas.openxmlformats.org/drawingml/2006/main">
            <a:r>
              <a:t>Source: `../outputs/validation/step6_upper_right.csv`; `../outputs/validation/step11_selected_sites.csv`; `../outputs/validation/power_connectivity_review.md`.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diligence lead is Astoria in Queens, EPA candidate 40157. It scores 78.46 for infrastructure inheritance and 93.21 for industrial symbiosis. The dataset counts 37 selected manufacturing facilities and three treatment-plant records within five kilometers. Its historical power match is name corroborated. These facts make Astoria worth a closer look. They do not mean that a parcel is free, that the utility can deliver the target load, or that the network route is fast. We recommend a region for verification, not a construction-ready site.</a:t>
            </a:r>
          </a:p>
          <a:p xmlns:a="http://schemas.openxmlformats.org/drawingml/2006/main">
            <a:r>
              <a:t/>
            </a:r>
          </a:p>
          <a:p xmlns:a="http://schemas.openxmlformats.org/drawingml/2006/main">
            <a:r>
              <a:t>Source: `../outputs/validation/step6_upper_right.csv`; `../data/processed/site_features.parquet`; `../outputs/validation/validation_report.md`.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long-term case rests on more than today's score. Residents and firms generally do not relocate across regions all at once, so a metro can remain a useful catchment for latency-sensitive services. That is a planning premise, not a thirty-year demand forecast; we would recheck migration and workloads at every phase. Suitable suburban parcels near fiber and grid are also more limited than remote acreage, making site options valuable. Utility, carrier and heat links may last longer than one GPU generation. We can refresh hardware and shift eligible work to regional facilities as needs change. First, though, we still need parcel, utility, carrier and heat-use diligence. The timeline remains conditional.</a:t>
            </a:r>
          </a:p>
          <a:p xmlns:a="http://schemas.openxmlformats.org/drawingml/2006/main">
            <a:r>
              <a:t/>
            </a:r>
          </a:p>
          <a:p xmlns:a="http://schemas.openxmlformats.org/drawingml/2006/main">
            <a:r>
              <a:t>Source: `../docs/six_page_story.md`, Pages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2e2da61be640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65449f79544b7f" /><Relationship Type="http://schemas.openxmlformats.org/officeDocument/2006/relationships/slideLayout" Target="/ppt/slideLayouts/slideLayout1.xml" Id="R631a2f36cdbb4c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1a2f36cdbb4c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a36c95d53b467b" /><Relationship Type="http://schemas.openxmlformats.org/officeDocument/2006/relationships/image" Target="/ppt/media/image.png" Id="Ra50f7ea8ae904285" /><Relationship Type="http://schemas.openxmlformats.org/officeDocument/2006/relationships/notesSlide" Target="/ppt/notesSlides/notesSlide1.xml" Id="R8793c28fd1444d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cb7a97ccd04da1" /><Relationship Type="http://schemas.openxmlformats.org/officeDocument/2006/relationships/notesSlide" Target="/ppt/notesSlides/notesSlide2.xml" Id="Re8947ec4057f4b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9461a1bdf74211" /><Relationship Type="http://schemas.openxmlformats.org/officeDocument/2006/relationships/notesSlide" Target="/ppt/notesSlides/notesSlide3.xml" Id="R7ffac0c255f741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8edbeab4ad473b" /><Relationship Type="http://schemas.openxmlformats.org/officeDocument/2006/relationships/notesSlide" Target="/ppt/notesSlides/notesSlide4.xml" Id="R509cd0b38cb847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ff9904100e48b4" /><Relationship Type="http://schemas.openxmlformats.org/officeDocument/2006/relationships/notesSlide" Target="/ppt/notesSlides/notesSlide5.xml" Id="Rd50898a1aa1240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e3e25959f74237" /><Relationship Type="http://schemas.openxmlformats.org/officeDocument/2006/relationships/notesSlide" Target="/ppt/notesSlides/notesSlide6.xml" Id="R20f7ee97a12244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9daa41c5124ded" /><Relationship Type="http://schemas.openxmlformats.org/officeDocument/2006/relationships/notesSlide" Target="/ppt/notesSlides/notesSlide7.xml" Id="R8cbc6d7cc47747d1" /></Relationships>
</file>

<file path=ppt/slides/slide1.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50f7ea8ae90428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1-title">
            <a:extLst xmlns:a="http://schemas.openxmlformats.org/drawingml/2006/main">
              <a:ext uri="{FF2B5EF4-FFF2-40B4-BE49-F238E27FC236}">
                <a16:creationId xmlns:a16="http://schemas.microsoft.com/office/drawing/2014/main" id="{CFB08F70-7E1C-4E3A-A0F0-0CF72D9CF567}"/>
              </a:ext>
            </a:extLst>
          </p:cNvPr>
          <p:cNvSpPr>
            <a:spLocks xmlns:a="http://schemas.openxmlformats.org/drawingml/2006/main" noGrp="1"/>
          </p:cNvSpPr>
          <p:nvPr/>
        </p:nvSpPr>
        <p:spPr>
          <a:xfrm xmlns:a="http://schemas.openxmlformats.org/drawingml/2006/main">
            <a:off x="723900" y="1676400"/>
            <a:ext cx="5905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75" b="1">
                <a:solidFill>
                  <a:srgbClr val="EEF6F4"/>
                </a:solidFill>
                <a:latin typeface="Arial"/>
                <a:ea typeface="Arial"/>
                <a:cs typeface="Arial"/>
              </a:defRPr>
            </a:pPr>
            <a:r>
              <a:rPr sz="4275" b="1">
                <a:solidFill>
                  <a:srgbClr val="EEF6F4"/>
                </a:solidFill>
                <a:latin typeface="Arial"/>
                <a:ea typeface="Arial"/>
                <a:cs typeface="Arial"/>
              </a:rPr>
              <a:t>Urban inference can</a:t>
            </a:r>
          </a:p>
          <a:p xmlns:a="http://schemas.openxmlformats.org/drawingml/2006/main">
            <a:pPr algn="l">
              <a:defRPr sz="4275" b="1">
                <a:solidFill>
                  <a:srgbClr val="EEF6F4"/>
                </a:solidFill>
                <a:latin typeface="Arial"/>
                <a:ea typeface="Arial"/>
                <a:cs typeface="Arial"/>
              </a:defRPr>
            </a:pPr>
            <a:r>
              <a:rPr sz="4275" b="1">
                <a:solidFill>
                  <a:srgbClr val="EEF6F4"/>
                </a:solidFill>
                <a:latin typeface="Arial"/>
                <a:ea typeface="Arial"/>
                <a:cs typeface="Arial"/>
              </a:rPr>
              <a:t>belong near demand</a:t>
            </a:r>
          </a:p>
        </p:txBody>
      </p:sp>
      <p:sp>
        <p:nvSpPr>
          <p:cNvPr id="3" name="s1-copy">
            <a:extLst xmlns:a="http://schemas.openxmlformats.org/drawingml/2006/main">
              <a:ext uri="{FF2B5EF4-FFF2-40B4-BE49-F238E27FC236}">
                <a16:creationId xmlns:a16="http://schemas.microsoft.com/office/drawing/2014/main" id="{1B1187F1-7E12-4727-B4BE-BB0719505489}"/>
              </a:ext>
            </a:extLst>
          </p:cNvPr>
          <p:cNvSpPr>
            <a:spLocks xmlns:a="http://schemas.openxmlformats.org/drawingml/2006/main" noGrp="1"/>
          </p:cNvSpPr>
          <p:nvPr/>
        </p:nvSpPr>
        <p:spPr>
          <a:xfrm xmlns:a="http://schemas.openxmlformats.org/drawingml/2006/main">
            <a:off x="762000" y="4000500"/>
            <a:ext cx="5143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EEF6F4"/>
                </a:solidFill>
                <a:latin typeface="Arial"/>
                <a:ea typeface="Arial"/>
                <a:cs typeface="Arial"/>
              </a:defRPr>
            </a:pPr>
            <a:r>
              <a:rPr sz="2025" b="0">
                <a:solidFill>
                  <a:srgbClr val="EEF6F4"/>
                </a:solidFill>
                <a:latin typeface="Arial"/>
                <a:ea typeface="Arial"/>
                <a:cs typeface="Arial"/>
              </a:rPr>
              <a:t>Cheap land pulls facilities outward. Interactive AI pulls compute toward users. Existing urban infrastructure may make that trade worthwhile.</a:t>
            </a:r>
          </a:p>
        </p:txBody>
      </p:sp>
      <p:sp>
        <p:nvSpPr>
          <p:cNvPr id="4" name="s1-number">
            <a:extLst xmlns:a="http://schemas.openxmlformats.org/drawingml/2006/main">
              <a:ext uri="{FF2B5EF4-FFF2-40B4-BE49-F238E27FC236}">
                <a16:creationId xmlns:a16="http://schemas.microsoft.com/office/drawing/2014/main" id="{E939B193-CE53-460D-BDA4-CA0E72CEDC1C}"/>
              </a:ext>
            </a:extLst>
          </p:cNvPr>
          <p:cNvSpPr>
            <a:spLocks xmlns:a="http://schemas.openxmlformats.org/drawingml/2006/main" noGrp="1"/>
          </p:cNvSpPr>
          <p:nvPr/>
        </p:nvSpPr>
        <p:spPr>
          <a:xfrm xmlns:a="http://schemas.openxmlformats.org/drawingml/2006/main">
            <a:off x="11125200" y="466725"/>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EEF6F4"/>
                </a:solidFill>
                <a:latin typeface="Arial"/>
                <a:ea typeface="Arial"/>
                <a:cs typeface="Arial"/>
              </a:defRPr>
            </a:pPr>
            <a:r>
              <a:rPr sz="1350" b="0">
                <a:solidFill>
                  <a:srgbClr val="EEF6F4"/>
                </a:solidFill>
                <a:latin typeface="Arial"/>
                <a:ea typeface="Arial"/>
                <a:cs typeface="Arial"/>
              </a:rPr>
              <a:t>01/07</a:t>
            </a:r>
          </a:p>
        </p:txBody>
      </p:sp>
    </p:spTree>
    <p:extLst>
      <p:ext uri="{BB962C8B-B14F-4D97-AF65-F5344CB8AC3E}">
        <p14:creationId xmlns:p14="http://schemas.microsoft.com/office/powerpoint/2010/main" val="716650266"/>
      </p:ext>
    </p:extLst>
  </p:cSld>
</p:sld>
</file>

<file path=ppt/slides/slide2.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2-title">
            <a:extLst xmlns:a="http://schemas.openxmlformats.org/drawingml/2006/main">
              <a:ext uri="{FF2B5EF4-FFF2-40B4-BE49-F238E27FC236}">
                <a16:creationId xmlns:a16="http://schemas.microsoft.com/office/drawing/2014/main" id="{3C9696AF-1069-4796-99D5-8B4111F54C27}"/>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Density raises costs and creates synergies</a:t>
            </a:r>
          </a:p>
        </p:txBody>
      </p:sp>
      <p:sp>
        <p:nvSpPr>
          <p:cNvPr id="2" name="s2-number">
            <a:extLst xmlns:a="http://schemas.openxmlformats.org/drawingml/2006/main">
              <a:ext uri="{FF2B5EF4-FFF2-40B4-BE49-F238E27FC236}">
                <a16:creationId xmlns:a16="http://schemas.microsoft.com/office/drawing/2014/main" id="{55001BE9-0A53-4DF3-972C-A5E86F009900}"/>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02/07</a:t>
            </a:r>
          </a:p>
        </p:txBody>
      </p:sp>
      <p:sp>
        <p:nvSpPr>
          <p:cNvPr id="3" name="">
            <a:extLst xmlns:a="http://schemas.openxmlformats.org/drawingml/2006/main">
              <a:ext uri="{FF2B5EF4-FFF2-40B4-BE49-F238E27FC236}">
                <a16:creationId xmlns:a16="http://schemas.microsoft.com/office/drawing/2014/main" id="{A39D31BC-91E8-41EF-B230-6B6D59CCE328}"/>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53C9E610-92AC-4379-ABCF-DED5B35EC280}"/>
              </a:ext>
            </a:extLst>
          </p:cNvPr>
          <p:cNvSpPr>
            <a:spLocks xmlns:a="http://schemas.openxmlformats.org/drawingml/2006/main" noGrp="1"/>
          </p:cNvSpPr>
          <p:nvPr/>
        </p:nvSpPr>
        <p:spPr>
          <a:xfrm xmlns:a="http://schemas.openxmlformats.org/drawingml/2006/main" flipH="0">
            <a:off x="6096000" y="2000250"/>
            <a:ext cx="0" cy="361950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5" name="">
            <a:extLst xmlns:a="http://schemas.openxmlformats.org/drawingml/2006/main">
              <a:ext uri="{FF2B5EF4-FFF2-40B4-BE49-F238E27FC236}">
                <a16:creationId xmlns:a16="http://schemas.microsoft.com/office/drawing/2014/main" id="{80BF36DC-EE34-41E6-A00B-30466AC51460}"/>
              </a:ext>
            </a:extLst>
          </p:cNvPr>
          <p:cNvSpPr>
            <a:spLocks xmlns:a="http://schemas.openxmlformats.org/drawingml/2006/main" noGrp="1"/>
          </p:cNvSpPr>
          <p:nvPr/>
        </p:nvSpPr>
        <p:spPr>
          <a:xfrm xmlns:a="http://schemas.openxmlformats.org/drawingml/2006/main">
            <a:off x="895350" y="19812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0AA6B"/>
                </a:solidFill>
                <a:latin typeface="Arial"/>
                <a:ea typeface="Arial"/>
                <a:cs typeface="Arial"/>
              </a:defRPr>
            </a:pPr>
            <a:r>
              <a:rPr sz="1725" b="1">
                <a:solidFill>
                  <a:srgbClr val="F0AA6B"/>
                </a:solidFill>
                <a:latin typeface="Arial"/>
                <a:ea typeface="Arial"/>
                <a:cs typeface="Arial"/>
              </a:rPr>
              <a:t>COST</a:t>
            </a:r>
          </a:p>
        </p:txBody>
      </p:sp>
      <p:sp>
        <p:nvSpPr>
          <p:cNvPr id="6" name="">
            <a:extLst xmlns:a="http://schemas.openxmlformats.org/drawingml/2006/main">
              <a:ext uri="{FF2B5EF4-FFF2-40B4-BE49-F238E27FC236}">
                <a16:creationId xmlns:a16="http://schemas.microsoft.com/office/drawing/2014/main" id="{4E96AA45-6E78-443F-8307-0A97C65587CB}"/>
              </a:ext>
            </a:extLst>
          </p:cNvPr>
          <p:cNvSpPr>
            <a:spLocks xmlns:a="http://schemas.openxmlformats.org/drawingml/2006/main" noGrp="1"/>
          </p:cNvSpPr>
          <p:nvPr/>
        </p:nvSpPr>
        <p:spPr>
          <a:xfrm xmlns:a="http://schemas.openxmlformats.org/drawingml/2006/main">
            <a:off x="895350" y="2676525"/>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Land</a:t>
            </a:r>
          </a:p>
        </p:txBody>
      </p:sp>
      <p:sp>
        <p:nvSpPr>
          <p:cNvPr id="7" name="">
            <a:extLst xmlns:a="http://schemas.openxmlformats.org/drawingml/2006/main">
              <a:ext uri="{FF2B5EF4-FFF2-40B4-BE49-F238E27FC236}">
                <a16:creationId xmlns:a16="http://schemas.microsoft.com/office/drawing/2014/main" id="{E1C93D71-CFE5-4D98-8011-CEDC8BDFCE18}"/>
              </a:ext>
            </a:extLst>
          </p:cNvPr>
          <p:cNvSpPr>
            <a:spLocks xmlns:a="http://schemas.openxmlformats.org/drawingml/2006/main" noGrp="1"/>
          </p:cNvSpPr>
          <p:nvPr/>
        </p:nvSpPr>
        <p:spPr>
          <a:xfrm xmlns:a="http://schemas.openxmlformats.org/drawingml/2006/main">
            <a:off x="895350" y="3429000"/>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Grid competition</a:t>
            </a:r>
          </a:p>
        </p:txBody>
      </p:sp>
      <p:sp>
        <p:nvSpPr>
          <p:cNvPr id="8" name="">
            <a:extLst xmlns:a="http://schemas.openxmlformats.org/drawingml/2006/main">
              <a:ext uri="{FF2B5EF4-FFF2-40B4-BE49-F238E27FC236}">
                <a16:creationId xmlns:a16="http://schemas.microsoft.com/office/drawing/2014/main" id="{CA5DCE3B-24D1-43F0-9644-01F901C0C0BD}"/>
              </a:ext>
            </a:extLst>
          </p:cNvPr>
          <p:cNvSpPr>
            <a:spLocks xmlns:a="http://schemas.openxmlformats.org/drawingml/2006/main" noGrp="1"/>
          </p:cNvSpPr>
          <p:nvPr/>
        </p:nvSpPr>
        <p:spPr>
          <a:xfrm xmlns:a="http://schemas.openxmlformats.org/drawingml/2006/main">
            <a:off x="895350" y="4181475"/>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Permits and community</a:t>
            </a:r>
          </a:p>
        </p:txBody>
      </p:sp>
      <p:sp>
        <p:nvSpPr>
          <p:cNvPr id="9" name="">
            <a:extLst xmlns:a="http://schemas.openxmlformats.org/drawingml/2006/main">
              <a:ext uri="{FF2B5EF4-FFF2-40B4-BE49-F238E27FC236}">
                <a16:creationId xmlns:a16="http://schemas.microsoft.com/office/drawing/2014/main" id="{ADCF9D18-5CF2-47D0-B9BE-10A757B32F65}"/>
              </a:ext>
            </a:extLst>
          </p:cNvPr>
          <p:cNvSpPr>
            <a:spLocks xmlns:a="http://schemas.openxmlformats.org/drawingml/2006/main" noGrp="1"/>
          </p:cNvSpPr>
          <p:nvPr/>
        </p:nvSpPr>
        <p:spPr>
          <a:xfrm xmlns:a="http://schemas.openxmlformats.org/drawingml/2006/main">
            <a:off x="6667500" y="1981200"/>
            <a:ext cx="4572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58D8E4"/>
                </a:solidFill>
                <a:latin typeface="Arial"/>
                <a:ea typeface="Arial"/>
                <a:cs typeface="Arial"/>
              </a:defRPr>
            </a:pPr>
            <a:r>
              <a:rPr sz="1725" b="1">
                <a:solidFill>
                  <a:srgbClr val="58D8E4"/>
                </a:solidFill>
                <a:latin typeface="Arial"/>
                <a:ea typeface="Arial"/>
                <a:cs typeface="Arial"/>
              </a:rPr>
              <a:t>SYNERGY</a:t>
            </a:r>
          </a:p>
        </p:txBody>
      </p:sp>
      <p:sp>
        <p:nvSpPr>
          <p:cNvPr id="10" name="">
            <a:extLst xmlns:a="http://schemas.openxmlformats.org/drawingml/2006/main">
              <a:ext uri="{FF2B5EF4-FFF2-40B4-BE49-F238E27FC236}">
                <a16:creationId xmlns:a16="http://schemas.microsoft.com/office/drawing/2014/main" id="{C071649E-B1CA-4E2C-BEFF-059FBBD1EFF0}"/>
              </a:ext>
            </a:extLst>
          </p:cNvPr>
          <p:cNvSpPr>
            <a:spLocks xmlns:a="http://schemas.openxmlformats.org/drawingml/2006/main" noGrp="1"/>
          </p:cNvSpPr>
          <p:nvPr/>
        </p:nvSpPr>
        <p:spPr>
          <a:xfrm xmlns:a="http://schemas.openxmlformats.org/drawingml/2006/main">
            <a:off x="6667500" y="267652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Users and networks</a:t>
            </a:r>
          </a:p>
        </p:txBody>
      </p:sp>
      <p:sp>
        <p:nvSpPr>
          <p:cNvPr id="11" name="">
            <a:extLst xmlns:a="http://schemas.openxmlformats.org/drawingml/2006/main">
              <a:ext uri="{FF2B5EF4-FFF2-40B4-BE49-F238E27FC236}">
                <a16:creationId xmlns:a16="http://schemas.microsoft.com/office/drawing/2014/main" id="{EF82AE85-260A-4F9B-9BF6-E1CAFD4835F4}"/>
              </a:ext>
            </a:extLst>
          </p:cNvPr>
          <p:cNvSpPr>
            <a:spLocks xmlns:a="http://schemas.openxmlformats.org/drawingml/2006/main" noGrp="1"/>
          </p:cNvSpPr>
          <p:nvPr/>
        </p:nvSpPr>
        <p:spPr>
          <a:xfrm xmlns:a="http://schemas.openxmlformats.org/drawingml/2006/main">
            <a:off x="6667500" y="3429000"/>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EEF6F4"/>
                </a:solidFill>
                <a:latin typeface="Arial"/>
                <a:ea typeface="Arial"/>
                <a:cs typeface="Arial"/>
              </a:defRPr>
            </a:pPr>
            <a:r>
              <a:rPr sz="2625" b="1">
                <a:solidFill>
                  <a:srgbClr val="EEF6F4"/>
                </a:solidFill>
                <a:latin typeface="Arial"/>
                <a:ea typeface="Arial"/>
                <a:cs typeface="Arial"/>
              </a:rPr>
              <a:t>Workforce and heat customers</a:t>
            </a:r>
          </a:p>
        </p:txBody>
      </p:sp>
      <p:sp>
        <p:nvSpPr>
          <p:cNvPr id="12" name="">
            <a:extLst xmlns:a="http://schemas.openxmlformats.org/drawingml/2006/main">
              <a:ext uri="{FF2B5EF4-FFF2-40B4-BE49-F238E27FC236}">
                <a16:creationId xmlns:a16="http://schemas.microsoft.com/office/drawing/2014/main" id="{3CEFDC2A-1002-4E34-A6A1-482CD18EC524}"/>
              </a:ext>
            </a:extLst>
          </p:cNvPr>
          <p:cNvSpPr>
            <a:spLocks xmlns:a="http://schemas.openxmlformats.org/drawingml/2006/main" noGrp="1"/>
          </p:cNvSpPr>
          <p:nvPr/>
        </p:nvSpPr>
        <p:spPr>
          <a:xfrm xmlns:a="http://schemas.openxmlformats.org/drawingml/2006/main">
            <a:off x="6667500" y="418147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Reused industrial sites</a:t>
            </a:r>
          </a:p>
        </p:txBody>
      </p:sp>
      <p:sp>
        <p:nvSpPr>
          <p:cNvPr id="13" name="">
            <a:extLst xmlns:a="http://schemas.openxmlformats.org/drawingml/2006/main">
              <a:ext uri="{FF2B5EF4-FFF2-40B4-BE49-F238E27FC236}">
                <a16:creationId xmlns:a16="http://schemas.microsoft.com/office/drawing/2014/main" id="{670170DC-4126-4D34-9A8A-498E493054AB}"/>
              </a:ext>
            </a:extLst>
          </p:cNvPr>
          <p:cNvSpPr>
            <a:spLocks xmlns:a="http://schemas.openxmlformats.org/drawingml/2006/main" noGrp="1"/>
          </p:cNvSpPr>
          <p:nvPr/>
        </p:nvSpPr>
        <p:spPr>
          <a:xfrm xmlns:a="http://schemas.openxmlformats.org/drawingml/2006/main">
            <a:off x="895350" y="57912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9CB2BC"/>
                </a:solidFill>
                <a:latin typeface="Arial"/>
                <a:ea typeface="Arial"/>
                <a:cs typeface="Arial"/>
              </a:defRPr>
            </a:pPr>
            <a:r>
              <a:rPr sz="2175" b="0">
                <a:solidFill>
                  <a:srgbClr val="9CB2BC"/>
                </a:solidFill>
                <a:latin typeface="Arial"/>
                <a:ea typeface="Arial"/>
                <a:cs typeface="Arial"/>
              </a:rPr>
              <a:t>Both sides need site-level proof.</a:t>
            </a:r>
          </a:p>
        </p:txBody>
      </p:sp>
    </p:spTree>
    <p:extLst>
      <p:ext uri="{BB962C8B-B14F-4D97-AF65-F5344CB8AC3E}">
        <p14:creationId xmlns:p14="http://schemas.microsoft.com/office/powerpoint/2010/main" val="1324676977"/>
      </p:ext>
    </p:extLst>
  </p:cSld>
</p:sld>
</file>

<file path=ppt/slides/slide3.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3-title">
            <a:extLst xmlns:a="http://schemas.openxmlformats.org/drawingml/2006/main">
              <a:ext uri="{FF2B5EF4-FFF2-40B4-BE49-F238E27FC236}">
                <a16:creationId xmlns:a16="http://schemas.microsoft.com/office/drawing/2014/main" id="{4D4B1320-CA31-4833-BFE2-7BDEF6236D6C}"/>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One site can connect six systems</a:t>
            </a:r>
          </a:p>
        </p:txBody>
      </p:sp>
      <p:sp>
        <p:nvSpPr>
          <p:cNvPr id="2" name="s3-number">
            <a:extLst xmlns:a="http://schemas.openxmlformats.org/drawingml/2006/main">
              <a:ext uri="{FF2B5EF4-FFF2-40B4-BE49-F238E27FC236}">
                <a16:creationId xmlns:a16="http://schemas.microsoft.com/office/drawing/2014/main" id="{DCB1D226-6102-4A6D-9B27-F84CA144D6C6}"/>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03/07</a:t>
            </a:r>
          </a:p>
        </p:txBody>
      </p:sp>
      <p:sp>
        <p:nvSpPr>
          <p:cNvPr id="3" name="">
            <a:extLst xmlns:a="http://schemas.openxmlformats.org/drawingml/2006/main">
              <a:ext uri="{FF2B5EF4-FFF2-40B4-BE49-F238E27FC236}">
                <a16:creationId xmlns:a16="http://schemas.microsoft.com/office/drawing/2014/main" id="{EB825AF6-3BAB-4B20-A70C-8654EF5B1550}"/>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BCF7C327-B662-4714-95E5-B120F6BF6165}"/>
              </a:ext>
            </a:extLst>
          </p:cNvPr>
          <p:cNvSpPr>
            <a:spLocks xmlns:a="http://schemas.openxmlformats.org/drawingml/2006/main" noGrp="1"/>
          </p:cNvSpPr>
          <p:nvPr/>
        </p:nvSpPr>
        <p:spPr>
          <a:xfrm xmlns:a="http://schemas.openxmlformats.org/drawingml/2006/main" flipH="0">
            <a:off x="6096000" y="2209800"/>
            <a:ext cx="0" cy="16573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5" name="">
            <a:extLst xmlns:a="http://schemas.openxmlformats.org/drawingml/2006/main">
              <a:ext uri="{FF2B5EF4-FFF2-40B4-BE49-F238E27FC236}">
                <a16:creationId xmlns:a16="http://schemas.microsoft.com/office/drawing/2014/main" id="{94EE65C6-3EA1-4565-8395-8D7C011C0697}"/>
              </a:ext>
            </a:extLst>
          </p:cNvPr>
          <p:cNvSpPr>
            <a:spLocks xmlns:a="http://schemas.openxmlformats.org/drawingml/2006/main" noGrp="1"/>
          </p:cNvSpPr>
          <p:nvPr/>
        </p:nvSpPr>
        <p:spPr>
          <a:xfrm xmlns:a="http://schemas.openxmlformats.org/drawingml/2006/main" flipH="0">
            <a:off x="2867025" y="3095625"/>
            <a:ext cx="3228975"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6" name="">
            <a:extLst xmlns:a="http://schemas.openxmlformats.org/drawingml/2006/main">
              <a:ext uri="{FF2B5EF4-FFF2-40B4-BE49-F238E27FC236}">
                <a16:creationId xmlns:a16="http://schemas.microsoft.com/office/drawing/2014/main" id="{A2A00748-F650-4DA9-A4F5-666CAA83C773}"/>
              </a:ext>
            </a:extLst>
          </p:cNvPr>
          <p:cNvSpPr>
            <a:spLocks xmlns:a="http://schemas.openxmlformats.org/drawingml/2006/main" noGrp="1"/>
          </p:cNvSpPr>
          <p:nvPr/>
        </p:nvSpPr>
        <p:spPr>
          <a:xfrm xmlns:a="http://schemas.openxmlformats.org/drawingml/2006/main" flipH="1">
            <a:off x="6096000" y="3095625"/>
            <a:ext cx="3200400"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7" name="">
            <a:extLst xmlns:a="http://schemas.openxmlformats.org/drawingml/2006/main">
              <a:ext uri="{FF2B5EF4-FFF2-40B4-BE49-F238E27FC236}">
                <a16:creationId xmlns:a16="http://schemas.microsoft.com/office/drawing/2014/main" id="{739C8BAF-243F-4046-B56B-D414280314E7}"/>
              </a:ext>
            </a:extLst>
          </p:cNvPr>
          <p:cNvSpPr>
            <a:spLocks xmlns:a="http://schemas.openxmlformats.org/drawingml/2006/main" noGrp="1"/>
          </p:cNvSpPr>
          <p:nvPr/>
        </p:nvSpPr>
        <p:spPr>
          <a:xfrm xmlns:a="http://schemas.openxmlformats.org/drawingml/2006/main" flipH="1">
            <a:off x="287655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8" name="">
            <a:extLst xmlns:a="http://schemas.openxmlformats.org/drawingml/2006/main">
              <a:ext uri="{FF2B5EF4-FFF2-40B4-BE49-F238E27FC236}">
                <a16:creationId xmlns:a16="http://schemas.microsoft.com/office/drawing/2014/main" id="{C43DD3A2-4082-4797-975F-DAEDDA1A4493}"/>
              </a:ext>
            </a:extLst>
          </p:cNvPr>
          <p:cNvSpPr>
            <a:spLocks xmlns:a="http://schemas.openxmlformats.org/drawingml/2006/main" noGrp="1"/>
          </p:cNvSpPr>
          <p:nvPr/>
        </p:nvSpPr>
        <p:spPr>
          <a:xfrm xmlns:a="http://schemas.openxmlformats.org/drawingml/2006/main" flipH="0">
            <a:off x="6096000" y="3867150"/>
            <a:ext cx="0" cy="156210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9" name="">
            <a:extLst xmlns:a="http://schemas.openxmlformats.org/drawingml/2006/main">
              <a:ext uri="{FF2B5EF4-FFF2-40B4-BE49-F238E27FC236}">
                <a16:creationId xmlns:a16="http://schemas.microsoft.com/office/drawing/2014/main" id="{9E71B98D-964D-4F27-AA0F-3FB4B0D99432}"/>
              </a:ext>
            </a:extLst>
          </p:cNvPr>
          <p:cNvSpPr>
            <a:spLocks xmlns:a="http://schemas.openxmlformats.org/drawingml/2006/main" noGrp="1"/>
          </p:cNvSpPr>
          <p:nvPr/>
        </p:nvSpPr>
        <p:spPr>
          <a:xfrm xmlns:a="http://schemas.openxmlformats.org/drawingml/2006/main" flipH="0">
            <a:off x="609600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10" name="">
            <a:extLst xmlns:a="http://schemas.openxmlformats.org/drawingml/2006/main">
              <a:ext uri="{FF2B5EF4-FFF2-40B4-BE49-F238E27FC236}">
                <a16:creationId xmlns:a16="http://schemas.microsoft.com/office/drawing/2014/main" id="{3A96E7C5-168C-4C3A-9511-41A9928CABA9}"/>
              </a:ext>
            </a:extLst>
          </p:cNvPr>
          <p:cNvSpPr>
            <a:spLocks xmlns:a="http://schemas.openxmlformats.org/drawingml/2006/main" noGrp="1"/>
          </p:cNvSpPr>
          <p:nvPr/>
        </p:nvSpPr>
        <p:spPr>
          <a:xfrm xmlns:a="http://schemas.openxmlformats.org/drawingml/2006/main">
            <a:off x="5972175" y="208597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1" name="">
            <a:extLst xmlns:a="http://schemas.openxmlformats.org/drawingml/2006/main">
              <a:ext uri="{FF2B5EF4-FFF2-40B4-BE49-F238E27FC236}">
                <a16:creationId xmlns:a16="http://schemas.microsoft.com/office/drawing/2014/main" id="{74E9C9EE-ABBA-412F-B39E-B0DD23701AE7}"/>
              </a:ext>
            </a:extLst>
          </p:cNvPr>
          <p:cNvSpPr>
            <a:spLocks xmlns:a="http://schemas.openxmlformats.org/drawingml/2006/main" noGrp="1"/>
          </p:cNvSpPr>
          <p:nvPr/>
        </p:nvSpPr>
        <p:spPr>
          <a:xfrm xmlns:a="http://schemas.openxmlformats.org/drawingml/2006/main">
            <a:off x="5067300" y="1743075"/>
            <a:ext cx="2057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rial"/>
                <a:ea typeface="Arial"/>
                <a:cs typeface="Arial"/>
              </a:defRPr>
            </a:pPr>
            <a:r>
              <a:rPr sz="1650" b="1">
                <a:solidFill>
                  <a:srgbClr val="EEF6F4"/>
                </a:solidFill>
                <a:latin typeface="Arial"/>
                <a:ea typeface="Arial"/>
                <a:cs typeface="Arial"/>
              </a:rPr>
              <a:t>GRID ASSETS</a:t>
            </a:r>
          </a:p>
        </p:txBody>
      </p:sp>
      <p:sp>
        <p:nvSpPr>
          <p:cNvPr id="12" name="">
            <a:extLst xmlns:a="http://schemas.openxmlformats.org/drawingml/2006/main">
              <a:ext uri="{FF2B5EF4-FFF2-40B4-BE49-F238E27FC236}">
                <a16:creationId xmlns:a16="http://schemas.microsoft.com/office/drawing/2014/main" id="{C06D3889-F63A-4EC3-B8AE-3AC59B9C8035}"/>
              </a:ext>
            </a:extLst>
          </p:cNvPr>
          <p:cNvSpPr>
            <a:spLocks xmlns:a="http://schemas.openxmlformats.org/drawingml/2006/main" noGrp="1"/>
          </p:cNvSpPr>
          <p:nvPr/>
        </p:nvSpPr>
        <p:spPr>
          <a:xfrm xmlns:a="http://schemas.openxmlformats.org/drawingml/2006/main">
            <a:off x="2743200" y="2971800"/>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3" name="">
            <a:extLst xmlns:a="http://schemas.openxmlformats.org/drawingml/2006/main">
              <a:ext uri="{FF2B5EF4-FFF2-40B4-BE49-F238E27FC236}">
                <a16:creationId xmlns:a16="http://schemas.microsoft.com/office/drawing/2014/main" id="{E3E20637-B2C4-4BF2-B4F3-61FB2D10D312}"/>
              </a:ext>
            </a:extLst>
          </p:cNvPr>
          <p:cNvSpPr>
            <a:spLocks xmlns:a="http://schemas.openxmlformats.org/drawingml/2006/main" noGrp="1"/>
          </p:cNvSpPr>
          <p:nvPr/>
        </p:nvSpPr>
        <p:spPr>
          <a:xfrm xmlns:a="http://schemas.openxmlformats.org/drawingml/2006/main">
            <a:off x="1000125" y="2762250"/>
            <a:ext cx="2152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CARRIER ROUTES</a:t>
            </a:r>
          </a:p>
        </p:txBody>
      </p:sp>
      <p:sp>
        <p:nvSpPr>
          <p:cNvPr id="14" name="">
            <a:extLst xmlns:a="http://schemas.openxmlformats.org/drawingml/2006/main">
              <a:ext uri="{FF2B5EF4-FFF2-40B4-BE49-F238E27FC236}">
                <a16:creationId xmlns:a16="http://schemas.microsoft.com/office/drawing/2014/main" id="{DCA6A709-BBB6-4E01-BD9D-70AAEC56B815}"/>
              </a:ext>
            </a:extLst>
          </p:cNvPr>
          <p:cNvSpPr>
            <a:spLocks xmlns:a="http://schemas.openxmlformats.org/drawingml/2006/main" noGrp="1"/>
          </p:cNvSpPr>
          <p:nvPr/>
        </p:nvSpPr>
        <p:spPr>
          <a:xfrm xmlns:a="http://schemas.openxmlformats.org/drawingml/2006/main">
            <a:off x="9172575" y="2971800"/>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5" name="">
            <a:extLst xmlns:a="http://schemas.openxmlformats.org/drawingml/2006/main">
              <a:ext uri="{FF2B5EF4-FFF2-40B4-BE49-F238E27FC236}">
                <a16:creationId xmlns:a16="http://schemas.microsoft.com/office/drawing/2014/main" id="{EE8E831F-D366-48DE-BA5D-7AF9B667EA01}"/>
              </a:ext>
            </a:extLst>
          </p:cNvPr>
          <p:cNvSpPr>
            <a:spLocks xmlns:a="http://schemas.openxmlformats.org/drawingml/2006/main" noGrp="1"/>
          </p:cNvSpPr>
          <p:nvPr/>
        </p:nvSpPr>
        <p:spPr>
          <a:xfrm xmlns:a="http://schemas.openxmlformats.org/drawingml/2006/main">
            <a:off x="9315450" y="2743200"/>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INFERENCE USERS</a:t>
            </a:r>
          </a:p>
        </p:txBody>
      </p:sp>
      <p:sp>
        <p:nvSpPr>
          <p:cNvPr id="16" name="">
            <a:extLst xmlns:a="http://schemas.openxmlformats.org/drawingml/2006/main">
              <a:ext uri="{FF2B5EF4-FFF2-40B4-BE49-F238E27FC236}">
                <a16:creationId xmlns:a16="http://schemas.microsoft.com/office/drawing/2014/main" id="{B333CB18-2949-4CD6-AB0F-EBD78A67E0AA}"/>
              </a:ext>
            </a:extLst>
          </p:cNvPr>
          <p:cNvSpPr>
            <a:spLocks xmlns:a="http://schemas.openxmlformats.org/drawingml/2006/main" noGrp="1"/>
          </p:cNvSpPr>
          <p:nvPr/>
        </p:nvSpPr>
        <p:spPr>
          <a:xfrm xmlns:a="http://schemas.openxmlformats.org/drawingml/2006/main">
            <a:off x="27527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7" name="">
            <a:extLst xmlns:a="http://schemas.openxmlformats.org/drawingml/2006/main">
              <a:ext uri="{FF2B5EF4-FFF2-40B4-BE49-F238E27FC236}">
                <a16:creationId xmlns:a16="http://schemas.microsoft.com/office/drawing/2014/main" id="{2069CD61-D191-42B7-879A-644AD630E0C8}"/>
              </a:ext>
            </a:extLst>
          </p:cNvPr>
          <p:cNvSpPr>
            <a:spLocks xmlns:a="http://schemas.openxmlformats.org/drawingml/2006/main" noGrp="1"/>
          </p:cNvSpPr>
          <p:nvPr/>
        </p:nvSpPr>
        <p:spPr>
          <a:xfrm xmlns:a="http://schemas.openxmlformats.org/drawingml/2006/main">
            <a:off x="1019175" y="5095875"/>
            <a:ext cx="2190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HEAT CUSTOMERS</a:t>
            </a:r>
          </a:p>
        </p:txBody>
      </p:sp>
      <p:sp>
        <p:nvSpPr>
          <p:cNvPr id="18" name="">
            <a:extLst xmlns:a="http://schemas.openxmlformats.org/drawingml/2006/main">
              <a:ext uri="{FF2B5EF4-FFF2-40B4-BE49-F238E27FC236}">
                <a16:creationId xmlns:a16="http://schemas.microsoft.com/office/drawing/2014/main" id="{6F223447-B88D-43AE-A9DD-B994EA0C2178}"/>
              </a:ext>
            </a:extLst>
          </p:cNvPr>
          <p:cNvSpPr>
            <a:spLocks xmlns:a="http://schemas.openxmlformats.org/drawingml/2006/main" noGrp="1"/>
          </p:cNvSpPr>
          <p:nvPr/>
        </p:nvSpPr>
        <p:spPr>
          <a:xfrm xmlns:a="http://schemas.openxmlformats.org/drawingml/2006/main">
            <a:off x="5972175" y="530542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9" name="">
            <a:extLst xmlns:a="http://schemas.openxmlformats.org/drawingml/2006/main">
              <a:ext uri="{FF2B5EF4-FFF2-40B4-BE49-F238E27FC236}">
                <a16:creationId xmlns:a16="http://schemas.microsoft.com/office/drawing/2014/main" id="{4F4FD4D1-3614-4528-82FF-E7D73AA3A7A4}"/>
              </a:ext>
            </a:extLst>
          </p:cNvPr>
          <p:cNvSpPr>
            <a:spLocks xmlns:a="http://schemas.openxmlformats.org/drawingml/2006/main" noGrp="1"/>
          </p:cNvSpPr>
          <p:nvPr/>
        </p:nvSpPr>
        <p:spPr>
          <a:xfrm xmlns:a="http://schemas.openxmlformats.org/drawingml/2006/main">
            <a:off x="4991100" y="5762625"/>
            <a:ext cx="2209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rial"/>
                <a:ea typeface="Arial"/>
                <a:cs typeface="Arial"/>
              </a:defRPr>
            </a:pPr>
            <a:r>
              <a:rPr sz="1650" b="1">
                <a:solidFill>
                  <a:srgbClr val="EEF6F4"/>
                </a:solidFill>
                <a:latin typeface="Arial"/>
                <a:ea typeface="Arial"/>
                <a:cs typeface="Arial"/>
              </a:rPr>
              <a:t>TREATMENT WATER</a:t>
            </a:r>
          </a:p>
        </p:txBody>
      </p:sp>
      <p:sp>
        <p:nvSpPr>
          <p:cNvPr id="20" name="">
            <a:extLst xmlns:a="http://schemas.openxmlformats.org/drawingml/2006/main">
              <a:ext uri="{FF2B5EF4-FFF2-40B4-BE49-F238E27FC236}">
                <a16:creationId xmlns:a16="http://schemas.microsoft.com/office/drawing/2014/main" id="{07BD5D90-E2E2-43C9-9619-7D1BFAB0B2B2}"/>
              </a:ext>
            </a:extLst>
          </p:cNvPr>
          <p:cNvSpPr>
            <a:spLocks xmlns:a="http://schemas.openxmlformats.org/drawingml/2006/main" noGrp="1"/>
          </p:cNvSpPr>
          <p:nvPr/>
        </p:nvSpPr>
        <p:spPr>
          <a:xfrm xmlns:a="http://schemas.openxmlformats.org/drawingml/2006/main">
            <a:off x="91916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21" name="">
            <a:extLst xmlns:a="http://schemas.openxmlformats.org/drawingml/2006/main">
              <a:ext uri="{FF2B5EF4-FFF2-40B4-BE49-F238E27FC236}">
                <a16:creationId xmlns:a16="http://schemas.microsoft.com/office/drawing/2014/main" id="{1C9B2342-C78F-4185-B71B-BD4411A61585}"/>
              </a:ext>
            </a:extLst>
          </p:cNvPr>
          <p:cNvSpPr>
            <a:spLocks xmlns:a="http://schemas.openxmlformats.org/drawingml/2006/main" noGrp="1"/>
          </p:cNvSpPr>
          <p:nvPr/>
        </p:nvSpPr>
        <p:spPr>
          <a:xfrm xmlns:a="http://schemas.openxmlformats.org/drawingml/2006/main">
            <a:off x="9458325" y="5095875"/>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REUSED LAND</a:t>
            </a:r>
          </a:p>
        </p:txBody>
      </p:sp>
      <p:sp>
        <p:nvSpPr>
          <p:cNvPr id="22" name="">
            <a:extLst xmlns:a="http://schemas.openxmlformats.org/drawingml/2006/main">
              <a:ext uri="{FF2B5EF4-FFF2-40B4-BE49-F238E27FC236}">
                <a16:creationId xmlns:a16="http://schemas.microsoft.com/office/drawing/2014/main" id="{04E92A6C-4E0C-42C1-BA9A-E4017443CD5F}"/>
              </a:ext>
            </a:extLst>
          </p:cNvPr>
          <p:cNvSpPr>
            <a:spLocks xmlns:a="http://schemas.openxmlformats.org/drawingml/2006/main" noGrp="1"/>
          </p:cNvSpPr>
          <p:nvPr/>
        </p:nvSpPr>
        <p:spPr>
          <a:xfrm xmlns:a="http://schemas.openxmlformats.org/drawingml/2006/main">
            <a:off x="5229225" y="3000375"/>
            <a:ext cx="1733550" cy="1733550"/>
          </a:xfrm>
          <a:prstGeom xmlns:a="http://schemas.openxmlformats.org/drawingml/2006/main" prst="ellipse">
            <a:avLst/>
          </a:prstGeom>
          <a:solidFill xmlns:a="http://schemas.openxmlformats.org/drawingml/2006/main">
            <a:srgbClr val="17303B"/>
          </a:solidFill>
          <a:ln xmlns:a="http://schemas.openxmlformats.org/drawingml/2006/main" w="28575">
            <a:solidFill>
              <a:srgbClr val="58D8E4"/>
            </a:solidFill>
            <a:prstDash val="solid"/>
          </a:ln>
        </p:spPr>
      </p:sp>
      <p:sp>
        <p:nvSpPr>
          <p:cNvPr id="23" name="">
            <a:extLst xmlns:a="http://schemas.openxmlformats.org/drawingml/2006/main">
              <a:ext uri="{FF2B5EF4-FFF2-40B4-BE49-F238E27FC236}">
                <a16:creationId xmlns:a16="http://schemas.microsoft.com/office/drawing/2014/main" id="{EC30A74F-1035-46C0-AD75-459EE86207A6}"/>
              </a:ext>
            </a:extLst>
          </p:cNvPr>
          <p:cNvSpPr>
            <a:spLocks xmlns:a="http://schemas.openxmlformats.org/drawingml/2006/main" noGrp="1"/>
          </p:cNvSpPr>
          <p:nvPr/>
        </p:nvSpPr>
        <p:spPr>
          <a:xfrm xmlns:a="http://schemas.openxmlformats.org/drawingml/2006/main">
            <a:off x="5257800" y="3314700"/>
            <a:ext cx="1676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URBAN</a:t>
            </a:r>
          </a:p>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INFERENCE</a:t>
            </a:r>
          </a:p>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SITE</a:t>
            </a:r>
          </a:p>
        </p:txBody>
      </p:sp>
      <p:sp>
        <p:nvSpPr>
          <p:cNvPr id="24" name="">
            <a:extLst xmlns:a="http://schemas.openxmlformats.org/drawingml/2006/main">
              <a:ext uri="{FF2B5EF4-FFF2-40B4-BE49-F238E27FC236}">
                <a16:creationId xmlns:a16="http://schemas.microsoft.com/office/drawing/2014/main" id="{8195170A-4D90-41D0-8CBD-AC25134D9FFB}"/>
              </a:ext>
            </a:extLst>
          </p:cNvPr>
          <p:cNvSpPr>
            <a:spLocks xmlns:a="http://schemas.openxmlformats.org/drawingml/2006/main" noGrp="1"/>
          </p:cNvSpPr>
          <p:nvPr/>
        </p:nvSpPr>
        <p:spPr>
          <a:xfrm xmlns:a="http://schemas.openxmlformats.org/drawingml/2006/main">
            <a:off x="781050" y="62293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0">
                <a:solidFill>
                  <a:srgbClr val="9CB2BC"/>
                </a:solidFill>
                <a:latin typeface="Arial"/>
                <a:ea typeface="Arial"/>
                <a:cs typeface="Arial"/>
              </a:defRPr>
            </a:pPr>
            <a:r>
              <a:rPr sz="1650" b="0">
                <a:solidFill>
                  <a:srgbClr val="9CB2BC"/>
                </a:solidFill>
                <a:latin typeface="Arial"/>
                <a:ea typeface="Arial"/>
                <a:cs typeface="Arial"/>
              </a:rPr>
              <a:t>Proximity starts the case. Engineering and contracts complete it.</a:t>
            </a:r>
          </a:p>
        </p:txBody>
      </p:sp>
    </p:spTree>
    <p:extLst>
      <p:ext uri="{BB962C8B-B14F-4D97-AF65-F5344CB8AC3E}">
        <p14:creationId xmlns:p14="http://schemas.microsoft.com/office/powerpoint/2010/main" val="207773392"/>
      </p:ext>
    </p:extLst>
  </p:cSld>
</p:sld>
</file>

<file path=ppt/slides/slide4.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4-title">
            <a:extLst xmlns:a="http://schemas.openxmlformats.org/drawingml/2006/main">
              <a:ext uri="{FF2B5EF4-FFF2-40B4-BE49-F238E27FC236}">
                <a16:creationId xmlns:a16="http://schemas.microsoft.com/office/drawing/2014/main" id="{A29A058D-9BB9-4F2E-A526-1D0E633A13A9}"/>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The locator turns national records into site evidence</a:t>
            </a:r>
          </a:p>
        </p:txBody>
      </p:sp>
      <p:sp>
        <p:nvSpPr>
          <p:cNvPr id="2" name="s4-number">
            <a:extLst xmlns:a="http://schemas.openxmlformats.org/drawingml/2006/main">
              <a:ext uri="{FF2B5EF4-FFF2-40B4-BE49-F238E27FC236}">
                <a16:creationId xmlns:a16="http://schemas.microsoft.com/office/drawing/2014/main" id="{1788B5F6-ED5F-4129-8DD8-4F28EA21AA27}"/>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04/07</a:t>
            </a:r>
          </a:p>
        </p:txBody>
      </p:sp>
      <p:sp>
        <p:nvSpPr>
          <p:cNvPr id="3" name="">
            <a:extLst xmlns:a="http://schemas.openxmlformats.org/drawingml/2006/main">
              <a:ext uri="{FF2B5EF4-FFF2-40B4-BE49-F238E27FC236}">
                <a16:creationId xmlns:a16="http://schemas.microsoft.com/office/drawing/2014/main" id="{706D0027-A72A-41E8-BB04-C6AD7F565857}"/>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8BD655E5-0EEA-456B-A074-864A6C7C37DF}"/>
              </a:ext>
            </a:extLst>
          </p:cNvPr>
          <p:cNvSpPr>
            <a:spLocks xmlns:a="http://schemas.openxmlformats.org/drawingml/2006/main" noGrp="1"/>
          </p:cNvSpPr>
          <p:nvPr/>
        </p:nvSpPr>
        <p:spPr>
          <a:xfrm xmlns:a="http://schemas.openxmlformats.org/drawingml/2006/main">
            <a:off x="866775" y="2019300"/>
            <a:ext cx="4238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EEF6F4"/>
                </a:solidFill>
                <a:latin typeface="Arial"/>
                <a:ea typeface="Arial"/>
                <a:cs typeface="Arial"/>
              </a:defRPr>
            </a:pPr>
            <a:r>
              <a:rPr sz="6825" b="1">
                <a:solidFill>
                  <a:srgbClr val="EEF6F4"/>
                </a:solidFill>
                <a:latin typeface="Arial"/>
                <a:ea typeface="Arial"/>
                <a:cs typeface="Arial"/>
              </a:rPr>
              <a:t>190,976</a:t>
            </a:r>
          </a:p>
        </p:txBody>
      </p:sp>
      <p:sp>
        <p:nvSpPr>
          <p:cNvPr id="5" name="">
            <a:extLst xmlns:a="http://schemas.openxmlformats.org/drawingml/2006/main">
              <a:ext uri="{FF2B5EF4-FFF2-40B4-BE49-F238E27FC236}">
                <a16:creationId xmlns:a16="http://schemas.microsoft.com/office/drawing/2014/main" id="{E59B9DCE-392D-4BB3-BAD7-F737233444BB}"/>
              </a:ext>
            </a:extLst>
          </p:cNvPr>
          <p:cNvSpPr>
            <a:spLocks xmlns:a="http://schemas.openxmlformats.org/drawingml/2006/main" noGrp="1"/>
          </p:cNvSpPr>
          <p:nvPr/>
        </p:nvSpPr>
        <p:spPr>
          <a:xfrm xmlns:a="http://schemas.openxmlformats.org/drawingml/2006/main">
            <a:off x="895350" y="31623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EPA site records</a:t>
            </a:r>
          </a:p>
        </p:txBody>
      </p:sp>
      <p:sp>
        <p:nvSpPr>
          <p:cNvPr id="6" name="">
            <a:extLst xmlns:a="http://schemas.openxmlformats.org/drawingml/2006/main">
              <a:ext uri="{FF2B5EF4-FFF2-40B4-BE49-F238E27FC236}">
                <a16:creationId xmlns:a16="http://schemas.microsoft.com/office/drawing/2014/main" id="{92F1ACDB-B3AC-4846-BC54-739A5A95CEA8}"/>
              </a:ext>
            </a:extLst>
          </p:cNvPr>
          <p:cNvSpPr>
            <a:spLocks xmlns:a="http://schemas.openxmlformats.org/drawingml/2006/main" noGrp="1"/>
          </p:cNvSpPr>
          <p:nvPr/>
        </p:nvSpPr>
        <p:spPr>
          <a:xfrm xmlns:a="http://schemas.openxmlformats.org/drawingml/2006/main" flipH="0">
            <a:off x="5191125" y="2905125"/>
            <a:ext cx="1009650" cy="0"/>
          </a:xfrm>
          <a:prstGeom xmlns:a="http://schemas.openxmlformats.org/drawingml/2006/main" prst="line">
            <a:avLst/>
          </a:prstGeom>
          <a:noFill xmlns:a="http://schemas.openxmlformats.org/drawingml/2006/main"/>
          <a:ln xmlns:a="http://schemas.openxmlformats.org/drawingml/2006/main" w="38100">
            <a:solidFill>
              <a:srgbClr val="58D8E4"/>
            </a:solidFill>
            <a:prstDash val="solid"/>
          </a:ln>
        </p:spPr>
      </p:sp>
      <p:sp>
        <p:nvSpPr>
          <p:cNvPr id="7" name="">
            <a:extLst xmlns:a="http://schemas.openxmlformats.org/drawingml/2006/main">
              <a:ext uri="{FF2B5EF4-FFF2-40B4-BE49-F238E27FC236}">
                <a16:creationId xmlns:a16="http://schemas.microsoft.com/office/drawing/2014/main" id="{FBE2F627-9368-4718-A41A-575B56A6BAB0}"/>
              </a:ext>
            </a:extLst>
          </p:cNvPr>
          <p:cNvSpPr>
            <a:spLocks xmlns:a="http://schemas.openxmlformats.org/drawingml/2006/main" noGrp="1"/>
          </p:cNvSpPr>
          <p:nvPr/>
        </p:nvSpPr>
        <p:spPr>
          <a:xfrm xmlns:a="http://schemas.openxmlformats.org/drawingml/2006/main">
            <a:off x="6467475" y="2019300"/>
            <a:ext cx="4381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58D8E4"/>
                </a:solidFill>
                <a:latin typeface="Arial"/>
                <a:ea typeface="Arial"/>
                <a:cs typeface="Arial"/>
              </a:defRPr>
            </a:pPr>
            <a:r>
              <a:rPr sz="6825" b="1">
                <a:solidFill>
                  <a:srgbClr val="58D8E4"/>
                </a:solidFill>
                <a:latin typeface="Arial"/>
                <a:ea typeface="Arial"/>
                <a:cs typeface="Arial"/>
              </a:rPr>
              <a:t>8,479</a:t>
            </a:r>
          </a:p>
        </p:txBody>
      </p:sp>
      <p:sp>
        <p:nvSpPr>
          <p:cNvPr id="8" name="">
            <a:extLst xmlns:a="http://schemas.openxmlformats.org/drawingml/2006/main">
              <a:ext uri="{FF2B5EF4-FFF2-40B4-BE49-F238E27FC236}">
                <a16:creationId xmlns:a16="http://schemas.microsoft.com/office/drawing/2014/main" id="{C7B76EA4-DD0B-4024-838C-BD5F9AA50811}"/>
              </a:ext>
            </a:extLst>
          </p:cNvPr>
          <p:cNvSpPr>
            <a:spLocks xmlns:a="http://schemas.openxmlformats.org/drawingml/2006/main" noGrp="1"/>
          </p:cNvSpPr>
          <p:nvPr/>
        </p:nvSpPr>
        <p:spPr>
          <a:xfrm xmlns:a="http://schemas.openxmlformats.org/drawingml/2006/main">
            <a:off x="6524625" y="31623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screened candidates</a:t>
            </a:r>
          </a:p>
        </p:txBody>
      </p:sp>
      <p:sp>
        <p:nvSpPr>
          <p:cNvPr id="9" name="">
            <a:extLst xmlns:a="http://schemas.openxmlformats.org/drawingml/2006/main">
              <a:ext uri="{FF2B5EF4-FFF2-40B4-BE49-F238E27FC236}">
                <a16:creationId xmlns:a16="http://schemas.microsoft.com/office/drawing/2014/main" id="{A3A9DD6D-48BC-4F56-8D9C-5E0E7C18A614}"/>
              </a:ext>
            </a:extLst>
          </p:cNvPr>
          <p:cNvSpPr>
            <a:spLocks xmlns:a="http://schemas.openxmlformats.org/drawingml/2006/main" noGrp="1"/>
          </p:cNvSpPr>
          <p:nvPr/>
        </p:nvSpPr>
        <p:spPr>
          <a:xfrm xmlns:a="http://schemas.openxmlformats.org/drawingml/2006/main" flipH="0">
            <a:off x="876300" y="4000500"/>
            <a:ext cx="104489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0" name="">
            <a:extLst xmlns:a="http://schemas.openxmlformats.org/drawingml/2006/main">
              <a:ext uri="{FF2B5EF4-FFF2-40B4-BE49-F238E27FC236}">
                <a16:creationId xmlns:a16="http://schemas.microsoft.com/office/drawing/2014/main" id="{726D1207-9476-4433-A8C4-92EFA5B4CD2C}"/>
              </a:ext>
            </a:extLst>
          </p:cNvPr>
          <p:cNvSpPr>
            <a:spLocks xmlns:a="http://schemas.openxmlformats.org/drawingml/2006/main" noGrp="1"/>
          </p:cNvSpPr>
          <p:nvPr/>
        </p:nvSpPr>
        <p:spPr>
          <a:xfrm xmlns:a="http://schemas.openxmlformats.org/drawingml/2006/main">
            <a:off x="923925" y="4314825"/>
            <a:ext cx="419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INFRASTRUCTURE</a:t>
            </a:r>
          </a:p>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INHERITANCE</a:t>
            </a:r>
          </a:p>
        </p:txBody>
      </p:sp>
      <p:sp>
        <p:nvSpPr>
          <p:cNvPr id="11" name="">
            <a:extLst xmlns:a="http://schemas.openxmlformats.org/drawingml/2006/main">
              <a:ext uri="{FF2B5EF4-FFF2-40B4-BE49-F238E27FC236}">
                <a16:creationId xmlns:a16="http://schemas.microsoft.com/office/drawing/2014/main" id="{0F01F257-FD3F-4844-896F-B0D0BA6CD67F}"/>
              </a:ext>
            </a:extLst>
          </p:cNvPr>
          <p:cNvSpPr>
            <a:spLocks xmlns:a="http://schemas.openxmlformats.org/drawingml/2006/main" noGrp="1"/>
          </p:cNvSpPr>
          <p:nvPr/>
        </p:nvSpPr>
        <p:spPr>
          <a:xfrm xmlns:a="http://schemas.openxmlformats.org/drawingml/2006/main">
            <a:off x="6486525" y="4314825"/>
            <a:ext cx="409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INDUSTRIAL</a:t>
            </a:r>
          </a:p>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SYMBIOSIS</a:t>
            </a:r>
          </a:p>
        </p:txBody>
      </p:sp>
      <p:sp>
        <p:nvSpPr>
          <p:cNvPr id="12" name="">
            <a:extLst xmlns:a="http://schemas.openxmlformats.org/drawingml/2006/main">
              <a:ext uri="{FF2B5EF4-FFF2-40B4-BE49-F238E27FC236}">
                <a16:creationId xmlns:a16="http://schemas.microsoft.com/office/drawing/2014/main" id="{A4902343-C4C2-425A-9A4B-23C01EC41B17}"/>
              </a:ext>
            </a:extLst>
          </p:cNvPr>
          <p:cNvSpPr>
            <a:spLocks xmlns:a="http://schemas.openxmlformats.org/drawingml/2006/main" noGrp="1"/>
          </p:cNvSpPr>
          <p:nvPr/>
        </p:nvSpPr>
        <p:spPr>
          <a:xfrm xmlns:a="http://schemas.openxmlformats.org/drawingml/2006/main">
            <a:off x="933450" y="552450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rial"/>
                <a:ea typeface="Arial"/>
                <a:cs typeface="Arial"/>
              </a:defRPr>
            </a:pPr>
            <a:r>
              <a:rPr sz="1875" b="0">
                <a:solidFill>
                  <a:srgbClr val="58D8E4"/>
                </a:solidFill>
                <a:latin typeface="Arial"/>
                <a:ea typeface="Arial"/>
                <a:cs typeface="Arial"/>
              </a:rPr>
              <a:t>Two independent axes</a:t>
            </a:r>
          </a:p>
        </p:txBody>
      </p:sp>
      <p:sp>
        <p:nvSpPr>
          <p:cNvPr id="13" name="">
            <a:extLst xmlns:a="http://schemas.openxmlformats.org/drawingml/2006/main">
              <a:ext uri="{FF2B5EF4-FFF2-40B4-BE49-F238E27FC236}">
                <a16:creationId xmlns:a16="http://schemas.microsoft.com/office/drawing/2014/main" id="{6D7B9012-D895-46D2-B3CA-82B9DCB4C4F1}"/>
              </a:ext>
            </a:extLst>
          </p:cNvPr>
          <p:cNvSpPr>
            <a:spLocks xmlns:a="http://schemas.openxmlformats.org/drawingml/2006/main" noGrp="1"/>
          </p:cNvSpPr>
          <p:nvPr/>
        </p:nvSpPr>
        <p:spPr>
          <a:xfrm xmlns:a="http://schemas.openxmlformats.org/drawingml/2006/main">
            <a:off x="6524625" y="5524500"/>
            <a:ext cx="45434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rial"/>
                <a:ea typeface="Arial"/>
                <a:cs typeface="Arial"/>
              </a:defRPr>
            </a:pPr>
            <a:r>
              <a:rPr sz="1875" b="0">
                <a:solidFill>
                  <a:srgbClr val="58D8E4"/>
                </a:solidFill>
                <a:latin typeface="Arial"/>
                <a:ea typeface="Arial"/>
                <a:cs typeface="Arial"/>
              </a:rPr>
              <a:t>Local 5 km facility context</a:t>
            </a:r>
          </a:p>
        </p:txBody>
      </p:sp>
    </p:spTree>
    <p:extLst>
      <p:ext uri="{BB962C8B-B14F-4D97-AF65-F5344CB8AC3E}">
        <p14:creationId xmlns:p14="http://schemas.microsoft.com/office/powerpoint/2010/main" val="93214350"/>
      </p:ext>
    </p:extLst>
  </p:cSld>
</p:sld>
</file>

<file path=ppt/slides/slide5.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5-title">
            <a:extLst xmlns:a="http://schemas.openxmlformats.org/drawingml/2006/main">
              <a:ext uri="{FF2B5EF4-FFF2-40B4-BE49-F238E27FC236}">
                <a16:creationId xmlns:a16="http://schemas.microsoft.com/office/drawing/2014/main" id="{9861C658-0ACA-4576-B0C1-42B3269322A7}"/>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Two axes make urban tradeoffs visible</a:t>
            </a:r>
          </a:p>
        </p:txBody>
      </p:sp>
      <p:sp>
        <p:nvSpPr>
          <p:cNvPr id="2" name="s5-number">
            <a:extLst xmlns:a="http://schemas.openxmlformats.org/drawingml/2006/main">
              <a:ext uri="{FF2B5EF4-FFF2-40B4-BE49-F238E27FC236}">
                <a16:creationId xmlns:a16="http://schemas.microsoft.com/office/drawing/2014/main" id="{926D4909-BFE1-4EB1-84DD-F8909E7CC642}"/>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05/07</a:t>
            </a:r>
          </a:p>
        </p:txBody>
      </p:sp>
      <p:sp>
        <p:nvSpPr>
          <p:cNvPr id="3" name="">
            <a:extLst xmlns:a="http://schemas.openxmlformats.org/drawingml/2006/main">
              <a:ext uri="{FF2B5EF4-FFF2-40B4-BE49-F238E27FC236}">
                <a16:creationId xmlns:a16="http://schemas.microsoft.com/office/drawing/2014/main" id="{1DE3D4F1-0896-4220-B76A-5B95BA20926B}"/>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E7792971-8CDD-4984-875A-3717F714C15D}"/>
              </a:ext>
            </a:extLst>
          </p:cNvPr>
          <p:cNvSpPr>
            <a:spLocks xmlns:a="http://schemas.openxmlformats.org/drawingml/2006/main" noGrp="1"/>
          </p:cNvSpPr>
          <p:nvPr/>
        </p:nvSpPr>
        <p:spPr>
          <a:xfrm xmlns:a="http://schemas.openxmlformats.org/drawingml/2006/main" flipH="0">
            <a:off x="1476375" y="5791200"/>
            <a:ext cx="5953125" cy="0"/>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5" name="">
            <a:extLst xmlns:a="http://schemas.openxmlformats.org/drawingml/2006/main">
              <a:ext uri="{FF2B5EF4-FFF2-40B4-BE49-F238E27FC236}">
                <a16:creationId xmlns:a16="http://schemas.microsoft.com/office/drawing/2014/main" id="{65C0B99A-4CFA-46AD-B116-E0F33391439A}"/>
              </a:ext>
            </a:extLst>
          </p:cNvPr>
          <p:cNvSpPr>
            <a:spLocks xmlns:a="http://schemas.openxmlformats.org/drawingml/2006/main" noGrp="1"/>
          </p:cNvSpPr>
          <p:nvPr/>
        </p:nvSpPr>
        <p:spPr>
          <a:xfrm xmlns:a="http://schemas.openxmlformats.org/drawingml/2006/main" flipH="0">
            <a:off x="1476375" y="2047875"/>
            <a:ext cx="0" cy="3743325"/>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6" name="">
            <a:extLst xmlns:a="http://schemas.openxmlformats.org/drawingml/2006/main">
              <a:ext uri="{FF2B5EF4-FFF2-40B4-BE49-F238E27FC236}">
                <a16:creationId xmlns:a16="http://schemas.microsoft.com/office/drawing/2014/main" id="{C48AF820-DEFE-4772-AA65-EA97B967E767}"/>
              </a:ext>
            </a:extLst>
          </p:cNvPr>
          <p:cNvSpPr>
            <a:spLocks xmlns:a="http://schemas.openxmlformats.org/drawingml/2006/main" noGrp="1"/>
          </p:cNvSpPr>
          <p:nvPr/>
        </p:nvSpPr>
        <p:spPr>
          <a:xfrm xmlns:a="http://schemas.openxmlformats.org/drawingml/2006/main" flipH="0">
            <a:off x="5048250" y="2047875"/>
            <a:ext cx="0" cy="3743325"/>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5D1106EC-C8D9-481F-A8BD-96C187078ABE}"/>
              </a:ext>
            </a:extLst>
          </p:cNvPr>
          <p:cNvSpPr>
            <a:spLocks xmlns:a="http://schemas.openxmlformats.org/drawingml/2006/main" noGrp="1"/>
          </p:cNvSpPr>
          <p:nvPr/>
        </p:nvSpPr>
        <p:spPr>
          <a:xfrm xmlns:a="http://schemas.openxmlformats.org/drawingml/2006/main" flipH="0">
            <a:off x="1476375" y="2983706"/>
            <a:ext cx="59531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8" name="">
            <a:extLst xmlns:a="http://schemas.openxmlformats.org/drawingml/2006/main">
              <a:ext uri="{FF2B5EF4-FFF2-40B4-BE49-F238E27FC236}">
                <a16:creationId xmlns:a16="http://schemas.microsoft.com/office/drawing/2014/main" id="{C0EBA151-3EBD-4F64-9E71-89E31C6841E8}"/>
              </a:ext>
            </a:extLst>
          </p:cNvPr>
          <p:cNvSpPr>
            <a:spLocks xmlns:a="http://schemas.openxmlformats.org/drawingml/2006/main" noGrp="1"/>
          </p:cNvSpPr>
          <p:nvPr/>
        </p:nvSpPr>
        <p:spPr>
          <a:xfrm xmlns:a="http://schemas.openxmlformats.org/drawingml/2006/main">
            <a:off x="4876800" y="5895975"/>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9CB2BC"/>
                </a:solidFill>
                <a:latin typeface="Arial"/>
                <a:ea typeface="Arial"/>
                <a:cs typeface="Arial"/>
              </a:defRPr>
            </a:pPr>
            <a:r>
              <a:rPr sz="1275" b="0">
                <a:solidFill>
                  <a:srgbClr val="9CB2BC"/>
                </a:solidFill>
                <a:latin typeface="Arial"/>
                <a:ea typeface="Arial"/>
                <a:cs typeface="Arial"/>
              </a:rPr>
              <a:t>60</a:t>
            </a:r>
          </a:p>
        </p:txBody>
      </p:sp>
      <p:sp>
        <p:nvSpPr>
          <p:cNvPr id="9" name="">
            <a:extLst xmlns:a="http://schemas.openxmlformats.org/drawingml/2006/main">
              <a:ext uri="{FF2B5EF4-FFF2-40B4-BE49-F238E27FC236}">
                <a16:creationId xmlns:a16="http://schemas.microsoft.com/office/drawing/2014/main" id="{C476303A-9175-42B9-88E9-F657E6BB4BFE}"/>
              </a:ext>
            </a:extLst>
          </p:cNvPr>
          <p:cNvSpPr>
            <a:spLocks xmlns:a="http://schemas.openxmlformats.org/drawingml/2006/main" noGrp="1"/>
          </p:cNvSpPr>
          <p:nvPr/>
        </p:nvSpPr>
        <p:spPr>
          <a:xfrm xmlns:a="http://schemas.openxmlformats.org/drawingml/2006/main">
            <a:off x="1057275" y="2859881"/>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9CB2BC"/>
                </a:solidFill>
                <a:latin typeface="Arial"/>
                <a:ea typeface="Arial"/>
                <a:cs typeface="Arial"/>
              </a:defRPr>
            </a:pPr>
            <a:r>
              <a:rPr sz="1275" b="0">
                <a:solidFill>
                  <a:srgbClr val="9CB2BC"/>
                </a:solidFill>
                <a:latin typeface="Arial"/>
                <a:ea typeface="Arial"/>
                <a:cs typeface="Arial"/>
              </a:rPr>
              <a:t>75</a:t>
            </a:r>
          </a:p>
        </p:txBody>
      </p:sp>
      <p:sp>
        <p:nvSpPr>
          <p:cNvPr id="10" name="">
            <a:extLst xmlns:a="http://schemas.openxmlformats.org/drawingml/2006/main">
              <a:ext uri="{FF2B5EF4-FFF2-40B4-BE49-F238E27FC236}">
                <a16:creationId xmlns:a16="http://schemas.microsoft.com/office/drawing/2014/main" id="{062F650C-0A90-481E-892F-B9F51373C716}"/>
              </a:ext>
            </a:extLst>
          </p:cNvPr>
          <p:cNvSpPr>
            <a:spLocks xmlns:a="http://schemas.openxmlformats.org/drawingml/2006/main" noGrp="1"/>
          </p:cNvSpPr>
          <p:nvPr/>
        </p:nvSpPr>
        <p:spPr>
          <a:xfrm xmlns:a="http://schemas.openxmlformats.org/drawingml/2006/main">
            <a:off x="5162550" y="6048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9CB2BC"/>
                </a:solidFill>
                <a:latin typeface="Arial"/>
                <a:ea typeface="Arial"/>
                <a:cs typeface="Arial"/>
              </a:defRPr>
            </a:pPr>
            <a:r>
              <a:rPr sz="1500" b="0">
                <a:solidFill>
                  <a:srgbClr val="9CB2BC"/>
                </a:solidFill>
                <a:latin typeface="Arial"/>
                <a:ea typeface="Arial"/>
                <a:cs typeface="Arial"/>
              </a:rPr>
              <a:t>Inheritance</a:t>
            </a:r>
          </a:p>
        </p:txBody>
      </p:sp>
      <p:sp>
        <p:nvSpPr>
          <p:cNvPr id="11" name="">
            <a:extLst xmlns:a="http://schemas.openxmlformats.org/drawingml/2006/main">
              <a:ext uri="{FF2B5EF4-FFF2-40B4-BE49-F238E27FC236}">
                <a16:creationId xmlns:a16="http://schemas.microsoft.com/office/drawing/2014/main" id="{5CCBB107-3DEB-416F-9493-EE53815AC853}"/>
              </a:ext>
            </a:extLst>
          </p:cNvPr>
          <p:cNvSpPr>
            <a:spLocks xmlns:a="http://schemas.openxmlformats.org/drawingml/2006/main" noGrp="1"/>
          </p:cNvSpPr>
          <p:nvPr/>
        </p:nvSpPr>
        <p:spPr>
          <a:xfrm xmlns:a="http://schemas.openxmlformats.org/drawingml/2006/main">
            <a:off x="790575" y="1647825"/>
            <a:ext cx="1190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9CB2BC"/>
                </a:solidFill>
                <a:latin typeface="Arial"/>
                <a:ea typeface="Arial"/>
                <a:cs typeface="Arial"/>
              </a:defRPr>
            </a:pPr>
            <a:r>
              <a:rPr sz="1500" b="0">
                <a:solidFill>
                  <a:srgbClr val="9CB2BC"/>
                </a:solidFill>
                <a:latin typeface="Arial"/>
                <a:ea typeface="Arial"/>
                <a:cs typeface="Arial"/>
              </a:rPr>
              <a:t>Symbiosis</a:t>
            </a:r>
          </a:p>
        </p:txBody>
      </p:sp>
      <p:sp>
        <p:nvSpPr>
          <p:cNvPr id="12" name="">
            <a:extLst xmlns:a="http://schemas.openxmlformats.org/drawingml/2006/main">
              <a:ext uri="{FF2B5EF4-FFF2-40B4-BE49-F238E27FC236}">
                <a16:creationId xmlns:a16="http://schemas.microsoft.com/office/drawing/2014/main" id="{0A598A1D-9E11-46A2-A2AF-CAFE82323C7E}"/>
              </a:ext>
            </a:extLst>
          </p:cNvPr>
          <p:cNvSpPr>
            <a:spLocks xmlns:a="http://schemas.openxmlformats.org/drawingml/2006/main" noGrp="1"/>
          </p:cNvSpPr>
          <p:nvPr/>
        </p:nvSpPr>
        <p:spPr>
          <a:xfrm xmlns:a="http://schemas.openxmlformats.org/drawingml/2006/main">
            <a:off x="6051947" y="2206797"/>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3" name="">
            <a:extLst xmlns:a="http://schemas.openxmlformats.org/drawingml/2006/main">
              <a:ext uri="{FF2B5EF4-FFF2-40B4-BE49-F238E27FC236}">
                <a16:creationId xmlns:a16="http://schemas.microsoft.com/office/drawing/2014/main" id="{55FC976B-DFAA-4C44-A6DE-2E87734E3C07}"/>
              </a:ext>
            </a:extLst>
          </p:cNvPr>
          <p:cNvSpPr>
            <a:spLocks xmlns:a="http://schemas.openxmlformats.org/drawingml/2006/main" noGrp="1"/>
          </p:cNvSpPr>
          <p:nvPr/>
        </p:nvSpPr>
        <p:spPr>
          <a:xfrm xmlns:a="http://schemas.openxmlformats.org/drawingml/2006/main">
            <a:off x="6309122" y="1921047"/>
            <a:ext cx="1524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Astoria</a:t>
            </a:r>
          </a:p>
        </p:txBody>
      </p:sp>
      <p:sp>
        <p:nvSpPr>
          <p:cNvPr id="14" name="">
            <a:extLst xmlns:a="http://schemas.openxmlformats.org/drawingml/2006/main">
              <a:ext uri="{FF2B5EF4-FFF2-40B4-BE49-F238E27FC236}">
                <a16:creationId xmlns:a16="http://schemas.microsoft.com/office/drawing/2014/main" id="{42F8DB59-1908-4104-A5A9-95FBE576B26B}"/>
              </a:ext>
            </a:extLst>
          </p:cNvPr>
          <p:cNvSpPr>
            <a:spLocks xmlns:a="http://schemas.openxmlformats.org/drawingml/2006/main" noGrp="1"/>
          </p:cNvSpPr>
          <p:nvPr/>
        </p:nvSpPr>
        <p:spPr>
          <a:xfrm xmlns:a="http://schemas.openxmlformats.org/drawingml/2006/main">
            <a:off x="5023842" y="2701664"/>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5" name="">
            <a:extLst xmlns:a="http://schemas.openxmlformats.org/drawingml/2006/main">
              <a:ext uri="{FF2B5EF4-FFF2-40B4-BE49-F238E27FC236}">
                <a16:creationId xmlns:a16="http://schemas.microsoft.com/office/drawing/2014/main" id="{110F0E0C-CD70-4A3D-9FE9-A701E87EB482}"/>
              </a:ext>
            </a:extLst>
          </p:cNvPr>
          <p:cNvSpPr>
            <a:spLocks xmlns:a="http://schemas.openxmlformats.org/drawingml/2006/main" noGrp="1"/>
          </p:cNvSpPr>
          <p:nvPr/>
        </p:nvSpPr>
        <p:spPr>
          <a:xfrm xmlns:a="http://schemas.openxmlformats.org/drawingml/2006/main">
            <a:off x="5261967" y="2806439"/>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Salem</a:t>
            </a:r>
          </a:p>
        </p:txBody>
      </p:sp>
      <p:sp>
        <p:nvSpPr>
          <p:cNvPr id="16" name="">
            <a:extLst xmlns:a="http://schemas.openxmlformats.org/drawingml/2006/main">
              <a:ext uri="{FF2B5EF4-FFF2-40B4-BE49-F238E27FC236}">
                <a16:creationId xmlns:a16="http://schemas.microsoft.com/office/drawing/2014/main" id="{68DD9AE7-CCBD-4A2E-A49F-3147B237C57A}"/>
              </a:ext>
            </a:extLst>
          </p:cNvPr>
          <p:cNvSpPr>
            <a:spLocks xmlns:a="http://schemas.openxmlformats.org/drawingml/2006/main" noGrp="1"/>
          </p:cNvSpPr>
          <p:nvPr/>
        </p:nvSpPr>
        <p:spPr>
          <a:xfrm xmlns:a="http://schemas.openxmlformats.org/drawingml/2006/main">
            <a:off x="6698456" y="3124660"/>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7" name="">
            <a:extLst xmlns:a="http://schemas.openxmlformats.org/drawingml/2006/main">
              <a:ext uri="{FF2B5EF4-FFF2-40B4-BE49-F238E27FC236}">
                <a16:creationId xmlns:a16="http://schemas.microsoft.com/office/drawing/2014/main" id="{A612C8E6-923B-4519-86C0-9FA758236B75}"/>
              </a:ext>
            </a:extLst>
          </p:cNvPr>
          <p:cNvSpPr>
            <a:spLocks xmlns:a="http://schemas.openxmlformats.org/drawingml/2006/main" noGrp="1"/>
          </p:cNvSpPr>
          <p:nvPr/>
        </p:nvSpPr>
        <p:spPr>
          <a:xfrm xmlns:a="http://schemas.openxmlformats.org/drawingml/2006/main">
            <a:off x="5269706" y="3258010"/>
            <a:ext cx="147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Indian Point</a:t>
            </a:r>
          </a:p>
        </p:txBody>
      </p:sp>
      <p:sp>
        <p:nvSpPr>
          <p:cNvPr id="18" name="">
            <a:extLst xmlns:a="http://schemas.openxmlformats.org/drawingml/2006/main">
              <a:ext uri="{FF2B5EF4-FFF2-40B4-BE49-F238E27FC236}">
                <a16:creationId xmlns:a16="http://schemas.microsoft.com/office/drawing/2014/main" id="{B3B6597D-FF7A-45CD-B60F-D41BED744755}"/>
              </a:ext>
            </a:extLst>
          </p:cNvPr>
          <p:cNvSpPr>
            <a:spLocks xmlns:a="http://schemas.openxmlformats.org/drawingml/2006/main" noGrp="1"/>
          </p:cNvSpPr>
          <p:nvPr/>
        </p:nvSpPr>
        <p:spPr>
          <a:xfrm xmlns:a="http://schemas.openxmlformats.org/drawingml/2006/main">
            <a:off x="3183136" y="1952625"/>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9" name="">
            <a:extLst xmlns:a="http://schemas.openxmlformats.org/drawingml/2006/main">
              <a:ext uri="{FF2B5EF4-FFF2-40B4-BE49-F238E27FC236}">
                <a16:creationId xmlns:a16="http://schemas.microsoft.com/office/drawing/2014/main" id="{F1D4A025-EBEC-47B9-BEC6-FE88D15996FC}"/>
              </a:ext>
            </a:extLst>
          </p:cNvPr>
          <p:cNvSpPr>
            <a:spLocks xmlns:a="http://schemas.openxmlformats.org/drawingml/2006/main" noGrp="1"/>
          </p:cNvSpPr>
          <p:nvPr/>
        </p:nvSpPr>
        <p:spPr>
          <a:xfrm xmlns:a="http://schemas.openxmlformats.org/drawingml/2006/main">
            <a:off x="2687836" y="1657350"/>
            <a:ext cx="1714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Davis Street</a:t>
            </a:r>
          </a:p>
        </p:txBody>
      </p:sp>
      <p:sp>
        <p:nvSpPr>
          <p:cNvPr id="20" name="">
            <a:extLst xmlns:a="http://schemas.openxmlformats.org/drawingml/2006/main">
              <a:ext uri="{FF2B5EF4-FFF2-40B4-BE49-F238E27FC236}">
                <a16:creationId xmlns:a16="http://schemas.microsoft.com/office/drawing/2014/main" id="{B6A999E7-E5FC-4B38-A680-3DBB2E556BA9}"/>
              </a:ext>
            </a:extLst>
          </p:cNvPr>
          <p:cNvSpPr>
            <a:spLocks xmlns:a="http://schemas.openxmlformats.org/drawingml/2006/main" noGrp="1"/>
          </p:cNvSpPr>
          <p:nvPr/>
        </p:nvSpPr>
        <p:spPr>
          <a:xfrm xmlns:a="http://schemas.openxmlformats.org/drawingml/2006/main">
            <a:off x="8286750" y="21907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rial"/>
                <a:ea typeface="Arial"/>
                <a:cs typeface="Arial"/>
              </a:defRPr>
            </a:pPr>
            <a:r>
              <a:rPr sz="2250" b="1">
                <a:solidFill>
                  <a:srgbClr val="EEF6F4"/>
                </a:solidFill>
                <a:latin typeface="Arial"/>
                <a:ea typeface="Arial"/>
                <a:cs typeface="Arial"/>
              </a:rPr>
              <a:t>Astoria</a:t>
            </a:r>
          </a:p>
        </p:txBody>
      </p:sp>
      <p:sp>
        <p:nvSpPr>
          <p:cNvPr id="21" name="">
            <a:extLst xmlns:a="http://schemas.openxmlformats.org/drawingml/2006/main">
              <a:ext uri="{FF2B5EF4-FFF2-40B4-BE49-F238E27FC236}">
                <a16:creationId xmlns:a16="http://schemas.microsoft.com/office/drawing/2014/main" id="{7467BDFF-8869-4250-876B-5659E47BEA6C}"/>
              </a:ext>
            </a:extLst>
          </p:cNvPr>
          <p:cNvSpPr>
            <a:spLocks xmlns:a="http://schemas.openxmlformats.org/drawingml/2006/main" noGrp="1"/>
          </p:cNvSpPr>
          <p:nvPr/>
        </p:nvSpPr>
        <p:spPr>
          <a:xfrm xmlns:a="http://schemas.openxmlformats.org/drawingml/2006/main">
            <a:off x="8286750" y="2647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rial"/>
                <a:ea typeface="Arial"/>
                <a:cs typeface="Arial"/>
              </a:defRPr>
            </a:pPr>
            <a:r>
              <a:rPr sz="2550" b="1">
                <a:solidFill>
                  <a:srgbClr val="58D8E4"/>
                </a:solidFill>
                <a:latin typeface="Arial"/>
                <a:ea typeface="Arial"/>
                <a:cs typeface="Arial"/>
              </a:rPr>
              <a:t>78.46  /  93.21</a:t>
            </a:r>
          </a:p>
        </p:txBody>
      </p:sp>
      <p:sp>
        <p:nvSpPr>
          <p:cNvPr id="22" name="">
            <a:extLst xmlns:a="http://schemas.openxmlformats.org/drawingml/2006/main">
              <a:ext uri="{FF2B5EF4-FFF2-40B4-BE49-F238E27FC236}">
                <a16:creationId xmlns:a16="http://schemas.microsoft.com/office/drawing/2014/main" id="{CD11F5B4-5846-4FEB-A26C-A503C20DF1DE}"/>
              </a:ext>
            </a:extLst>
          </p:cNvPr>
          <p:cNvSpPr>
            <a:spLocks xmlns:a="http://schemas.openxmlformats.org/drawingml/2006/main" noGrp="1"/>
          </p:cNvSpPr>
          <p:nvPr/>
        </p:nvSpPr>
        <p:spPr>
          <a:xfrm xmlns:a="http://schemas.openxmlformats.org/drawingml/2006/main">
            <a:off x="8286750" y="35242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rial"/>
                <a:ea typeface="Arial"/>
                <a:cs typeface="Arial"/>
              </a:defRPr>
            </a:pPr>
            <a:r>
              <a:rPr sz="2250" b="1">
                <a:solidFill>
                  <a:srgbClr val="EEF6F4"/>
                </a:solidFill>
                <a:latin typeface="Arial"/>
                <a:ea typeface="Arial"/>
                <a:cs typeface="Arial"/>
              </a:rPr>
              <a:t>Salem</a:t>
            </a:r>
          </a:p>
        </p:txBody>
      </p:sp>
      <p:sp>
        <p:nvSpPr>
          <p:cNvPr id="23" name="">
            <a:extLst xmlns:a="http://schemas.openxmlformats.org/drawingml/2006/main">
              <a:ext uri="{FF2B5EF4-FFF2-40B4-BE49-F238E27FC236}">
                <a16:creationId xmlns:a16="http://schemas.microsoft.com/office/drawing/2014/main" id="{AC16A891-7F07-45C2-ADD5-D899820A1006}"/>
              </a:ext>
            </a:extLst>
          </p:cNvPr>
          <p:cNvSpPr>
            <a:spLocks xmlns:a="http://schemas.openxmlformats.org/drawingml/2006/main" noGrp="1"/>
          </p:cNvSpPr>
          <p:nvPr/>
        </p:nvSpPr>
        <p:spPr>
          <a:xfrm xmlns:a="http://schemas.openxmlformats.org/drawingml/2006/main">
            <a:off x="8286750" y="39814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rial"/>
                <a:ea typeface="Arial"/>
                <a:cs typeface="Arial"/>
              </a:defRPr>
            </a:pPr>
            <a:r>
              <a:rPr sz="2550" b="1">
                <a:solidFill>
                  <a:srgbClr val="58D8E4"/>
                </a:solidFill>
                <a:latin typeface="Arial"/>
                <a:ea typeface="Arial"/>
                <a:cs typeface="Arial"/>
              </a:rPr>
              <a:t>61.19  /  79.99</a:t>
            </a:r>
          </a:p>
        </p:txBody>
      </p:sp>
      <p:sp>
        <p:nvSpPr>
          <p:cNvPr id="24" name="">
            <a:extLst xmlns:a="http://schemas.openxmlformats.org/drawingml/2006/main">
              <a:ext uri="{FF2B5EF4-FFF2-40B4-BE49-F238E27FC236}">
                <a16:creationId xmlns:a16="http://schemas.microsoft.com/office/drawing/2014/main" id="{33366106-A382-4725-8A9F-6B9A1642C533}"/>
              </a:ext>
            </a:extLst>
          </p:cNvPr>
          <p:cNvSpPr>
            <a:spLocks xmlns:a="http://schemas.openxmlformats.org/drawingml/2006/main" noGrp="1"/>
          </p:cNvSpPr>
          <p:nvPr/>
        </p:nvSpPr>
        <p:spPr>
          <a:xfrm xmlns:a="http://schemas.openxmlformats.org/drawingml/2006/main">
            <a:off x="8286750" y="4981575"/>
            <a:ext cx="30289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9CB2BC"/>
                </a:solidFill>
                <a:latin typeface="Arial"/>
                <a:ea typeface="Arial"/>
                <a:cs typeface="Arial"/>
              </a:defRPr>
            </a:pPr>
            <a:r>
              <a:rPr sz="1650" b="0">
                <a:solidFill>
                  <a:srgbClr val="9CB2BC"/>
                </a:solidFill>
                <a:latin typeface="Arial"/>
                <a:ea typeface="Arial"/>
                <a:cs typeface="Arial"/>
              </a:rPr>
              <a:t>Connectivity remains a separate exploratory view.</a:t>
            </a:r>
          </a:p>
        </p:txBody>
      </p:sp>
    </p:spTree>
    <p:extLst>
      <p:ext uri="{BB962C8B-B14F-4D97-AF65-F5344CB8AC3E}">
        <p14:creationId xmlns:p14="http://schemas.microsoft.com/office/powerpoint/2010/main" val="1612144339"/>
      </p:ext>
    </p:extLst>
  </p:cSld>
</p:sld>
</file>

<file path=ppt/slides/slide6.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6-title">
            <a:extLst xmlns:a="http://schemas.openxmlformats.org/drawingml/2006/main">
              <a:ext uri="{FF2B5EF4-FFF2-40B4-BE49-F238E27FC236}">
                <a16:creationId xmlns:a16="http://schemas.microsoft.com/office/drawing/2014/main" id="{A42D6EE8-89B2-40E1-9685-42138ACF7101}"/>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Astoria is the first due-diligence lead</a:t>
            </a:r>
          </a:p>
        </p:txBody>
      </p:sp>
      <p:sp>
        <p:nvSpPr>
          <p:cNvPr id="2" name="s6-number">
            <a:extLst xmlns:a="http://schemas.openxmlformats.org/drawingml/2006/main">
              <a:ext uri="{FF2B5EF4-FFF2-40B4-BE49-F238E27FC236}">
                <a16:creationId xmlns:a16="http://schemas.microsoft.com/office/drawing/2014/main" id="{88FE7C39-57E1-43E3-A449-9FEE5CF310CE}"/>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06/07</a:t>
            </a:r>
          </a:p>
        </p:txBody>
      </p:sp>
      <p:sp>
        <p:nvSpPr>
          <p:cNvPr id="3" name="">
            <a:extLst xmlns:a="http://schemas.openxmlformats.org/drawingml/2006/main">
              <a:ext uri="{FF2B5EF4-FFF2-40B4-BE49-F238E27FC236}">
                <a16:creationId xmlns:a16="http://schemas.microsoft.com/office/drawing/2014/main" id="{2158E3E6-051C-46B8-B6AA-D38DB163AAF0}"/>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DB6EC31E-2B12-42A5-99F3-1A0119F5BB1D}"/>
              </a:ext>
            </a:extLst>
          </p:cNvPr>
          <p:cNvSpPr>
            <a:spLocks xmlns:a="http://schemas.openxmlformats.org/drawingml/2006/main" noGrp="1"/>
          </p:cNvSpPr>
          <p:nvPr/>
        </p:nvSpPr>
        <p:spPr>
          <a:xfrm xmlns:a="http://schemas.openxmlformats.org/drawingml/2006/main">
            <a:off x="733425" y="1962150"/>
            <a:ext cx="64389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EEF6F4"/>
                </a:solidFill>
                <a:latin typeface="Arial"/>
                <a:ea typeface="Arial"/>
                <a:cs typeface="Arial"/>
              </a:defRPr>
            </a:pPr>
            <a:r>
              <a:rPr sz="5850" b="1">
                <a:solidFill>
                  <a:srgbClr val="EEF6F4"/>
                </a:solidFill>
                <a:latin typeface="Arial"/>
                <a:ea typeface="Arial"/>
                <a:cs typeface="Arial"/>
              </a:rPr>
              <a:t>ASTORIA</a:t>
            </a:r>
          </a:p>
        </p:txBody>
      </p:sp>
      <p:sp>
        <p:nvSpPr>
          <p:cNvPr id="5" name="">
            <a:extLst xmlns:a="http://schemas.openxmlformats.org/drawingml/2006/main">
              <a:ext uri="{FF2B5EF4-FFF2-40B4-BE49-F238E27FC236}">
                <a16:creationId xmlns:a16="http://schemas.microsoft.com/office/drawing/2014/main" id="{AA11C388-7E7C-431D-876A-F9482DB9D9A9}"/>
              </a:ext>
            </a:extLst>
          </p:cNvPr>
          <p:cNvSpPr>
            <a:spLocks xmlns:a="http://schemas.openxmlformats.org/drawingml/2006/main" noGrp="1"/>
          </p:cNvSpPr>
          <p:nvPr/>
        </p:nvSpPr>
        <p:spPr>
          <a:xfrm xmlns:a="http://schemas.openxmlformats.org/drawingml/2006/main">
            <a:off x="800100" y="29527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Queens, NY  ·  EPA site 40157</a:t>
            </a:r>
          </a:p>
        </p:txBody>
      </p:sp>
      <p:sp>
        <p:nvSpPr>
          <p:cNvPr id="6" name="">
            <a:extLst xmlns:a="http://schemas.openxmlformats.org/drawingml/2006/main">
              <a:ext uri="{FF2B5EF4-FFF2-40B4-BE49-F238E27FC236}">
                <a16:creationId xmlns:a16="http://schemas.microsoft.com/office/drawing/2014/main" id="{E290C782-B0A7-4201-9E76-9F241136E655}"/>
              </a:ext>
            </a:extLst>
          </p:cNvPr>
          <p:cNvSpPr>
            <a:spLocks xmlns:a="http://schemas.openxmlformats.org/drawingml/2006/main" noGrp="1"/>
          </p:cNvSpPr>
          <p:nvPr/>
        </p:nvSpPr>
        <p:spPr>
          <a:xfrm xmlns:a="http://schemas.openxmlformats.org/drawingml/2006/main" flipH="0">
            <a:off x="762000" y="370522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D9809033-3783-4B6F-86D3-90C7129770DA}"/>
              </a:ext>
            </a:extLst>
          </p:cNvPr>
          <p:cNvSpPr>
            <a:spLocks xmlns:a="http://schemas.openxmlformats.org/drawingml/2006/main" noGrp="1"/>
          </p:cNvSpPr>
          <p:nvPr/>
        </p:nvSpPr>
        <p:spPr>
          <a:xfrm xmlns:a="http://schemas.openxmlformats.org/drawingml/2006/main">
            <a:off x="828675" y="4019550"/>
            <a:ext cx="27336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rial"/>
                <a:ea typeface="Arial"/>
                <a:cs typeface="Arial"/>
              </a:defRPr>
            </a:pPr>
            <a:r>
              <a:rPr sz="5250" b="1">
                <a:solidFill>
                  <a:srgbClr val="58D8E4"/>
                </a:solidFill>
                <a:latin typeface="Arial"/>
                <a:ea typeface="Arial"/>
                <a:cs typeface="Arial"/>
              </a:rPr>
              <a:t>78.46</a:t>
            </a:r>
          </a:p>
        </p:txBody>
      </p:sp>
      <p:sp>
        <p:nvSpPr>
          <p:cNvPr id="8" name="">
            <a:extLst xmlns:a="http://schemas.openxmlformats.org/drawingml/2006/main">
              <a:ext uri="{FF2B5EF4-FFF2-40B4-BE49-F238E27FC236}">
                <a16:creationId xmlns:a16="http://schemas.microsoft.com/office/drawing/2014/main" id="{784F0CDD-2C1B-4B72-BD7B-F1FD0224FCD2}"/>
              </a:ext>
            </a:extLst>
          </p:cNvPr>
          <p:cNvSpPr>
            <a:spLocks xmlns:a="http://schemas.openxmlformats.org/drawingml/2006/main" noGrp="1"/>
          </p:cNvSpPr>
          <p:nvPr/>
        </p:nvSpPr>
        <p:spPr>
          <a:xfrm xmlns:a="http://schemas.openxmlformats.org/drawingml/2006/main">
            <a:off x="876300" y="4848225"/>
            <a:ext cx="26384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rial"/>
                <a:ea typeface="Arial"/>
                <a:cs typeface="Arial"/>
              </a:defRPr>
            </a:pPr>
            <a:r>
              <a:rPr sz="1800" b="0">
                <a:solidFill>
                  <a:srgbClr val="9CB2BC"/>
                </a:solidFill>
                <a:latin typeface="Arial"/>
                <a:ea typeface="Arial"/>
                <a:cs typeface="Arial"/>
              </a:rPr>
              <a:t>inheritance</a:t>
            </a:r>
          </a:p>
        </p:txBody>
      </p:sp>
      <p:sp>
        <p:nvSpPr>
          <p:cNvPr id="9" name="">
            <a:extLst xmlns:a="http://schemas.openxmlformats.org/drawingml/2006/main">
              <a:ext uri="{FF2B5EF4-FFF2-40B4-BE49-F238E27FC236}">
                <a16:creationId xmlns:a16="http://schemas.microsoft.com/office/drawing/2014/main" id="{00A702CD-8EAC-4359-9D93-714842606942}"/>
              </a:ext>
            </a:extLst>
          </p:cNvPr>
          <p:cNvSpPr>
            <a:spLocks xmlns:a="http://schemas.openxmlformats.org/drawingml/2006/main" noGrp="1"/>
          </p:cNvSpPr>
          <p:nvPr/>
        </p:nvSpPr>
        <p:spPr>
          <a:xfrm xmlns:a="http://schemas.openxmlformats.org/drawingml/2006/main">
            <a:off x="4086225" y="4019550"/>
            <a:ext cx="2619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rial"/>
                <a:ea typeface="Arial"/>
                <a:cs typeface="Arial"/>
              </a:defRPr>
            </a:pPr>
            <a:r>
              <a:rPr sz="5250" b="1">
                <a:solidFill>
                  <a:srgbClr val="58D8E4"/>
                </a:solidFill>
                <a:latin typeface="Arial"/>
                <a:ea typeface="Arial"/>
                <a:cs typeface="Arial"/>
              </a:rPr>
              <a:t>93.21</a:t>
            </a:r>
          </a:p>
        </p:txBody>
      </p:sp>
      <p:sp>
        <p:nvSpPr>
          <p:cNvPr id="10" name="">
            <a:extLst xmlns:a="http://schemas.openxmlformats.org/drawingml/2006/main">
              <a:ext uri="{FF2B5EF4-FFF2-40B4-BE49-F238E27FC236}">
                <a16:creationId xmlns:a16="http://schemas.microsoft.com/office/drawing/2014/main" id="{026A4406-7878-49A7-AD68-7C2A6B511EA6}"/>
              </a:ext>
            </a:extLst>
          </p:cNvPr>
          <p:cNvSpPr>
            <a:spLocks xmlns:a="http://schemas.openxmlformats.org/drawingml/2006/main" noGrp="1"/>
          </p:cNvSpPr>
          <p:nvPr/>
        </p:nvSpPr>
        <p:spPr>
          <a:xfrm xmlns:a="http://schemas.openxmlformats.org/drawingml/2006/main">
            <a:off x="4124325" y="4848225"/>
            <a:ext cx="2552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rial"/>
                <a:ea typeface="Arial"/>
                <a:cs typeface="Arial"/>
              </a:defRPr>
            </a:pPr>
            <a:r>
              <a:rPr sz="1800" b="0">
                <a:solidFill>
                  <a:srgbClr val="9CB2BC"/>
                </a:solidFill>
                <a:latin typeface="Arial"/>
                <a:ea typeface="Arial"/>
                <a:cs typeface="Arial"/>
              </a:rPr>
              <a:t>symbiosis</a:t>
            </a:r>
          </a:p>
        </p:txBody>
      </p:sp>
      <p:sp>
        <p:nvSpPr>
          <p:cNvPr id="11" name="">
            <a:extLst xmlns:a="http://schemas.openxmlformats.org/drawingml/2006/main">
              <a:ext uri="{FF2B5EF4-FFF2-40B4-BE49-F238E27FC236}">
                <a16:creationId xmlns:a16="http://schemas.microsoft.com/office/drawing/2014/main" id="{6482E5E7-A25C-4E5F-88D1-6459C068B146}"/>
              </a:ext>
            </a:extLst>
          </p:cNvPr>
          <p:cNvSpPr>
            <a:spLocks xmlns:a="http://schemas.openxmlformats.org/drawingml/2006/main" noGrp="1"/>
          </p:cNvSpPr>
          <p:nvPr/>
        </p:nvSpPr>
        <p:spPr>
          <a:xfrm xmlns:a="http://schemas.openxmlformats.org/drawingml/2006/main">
            <a:off x="7724775" y="4057650"/>
            <a:ext cx="16668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025" b="1">
                <a:solidFill>
                  <a:srgbClr val="EEF6F4"/>
                </a:solidFill>
                <a:latin typeface="Arial"/>
                <a:ea typeface="Arial"/>
                <a:cs typeface="Arial"/>
              </a:defRPr>
            </a:pPr>
            <a:r>
              <a:rPr sz="5025" b="1">
                <a:solidFill>
                  <a:srgbClr val="EEF6F4"/>
                </a:solidFill>
                <a:latin typeface="Arial"/>
                <a:ea typeface="Arial"/>
                <a:cs typeface="Arial"/>
              </a:rPr>
              <a:t>37</a:t>
            </a:r>
          </a:p>
        </p:txBody>
      </p:sp>
      <p:sp>
        <p:nvSpPr>
          <p:cNvPr id="12" name="">
            <a:extLst xmlns:a="http://schemas.openxmlformats.org/drawingml/2006/main">
              <a:ext uri="{FF2B5EF4-FFF2-40B4-BE49-F238E27FC236}">
                <a16:creationId xmlns:a16="http://schemas.microsoft.com/office/drawing/2014/main" id="{DC7C42B1-8AA4-4CD3-A4D3-ECE9F037B5EF}"/>
              </a:ext>
            </a:extLst>
          </p:cNvPr>
          <p:cNvSpPr>
            <a:spLocks xmlns:a="http://schemas.openxmlformats.org/drawingml/2006/main" noGrp="1"/>
          </p:cNvSpPr>
          <p:nvPr/>
        </p:nvSpPr>
        <p:spPr>
          <a:xfrm xmlns:a="http://schemas.openxmlformats.org/drawingml/2006/main">
            <a:off x="7753350" y="48006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9CB2BC"/>
                </a:solidFill>
                <a:latin typeface="Arial"/>
                <a:ea typeface="Arial"/>
                <a:cs typeface="Arial"/>
              </a:defRPr>
            </a:pPr>
            <a:r>
              <a:rPr sz="1725" b="0">
                <a:solidFill>
                  <a:srgbClr val="9CB2BC"/>
                </a:solidFill>
                <a:latin typeface="Arial"/>
                <a:ea typeface="Arial"/>
                <a:cs typeface="Arial"/>
              </a:rPr>
              <a:t>selected manufacturing</a:t>
            </a:r>
          </a:p>
          <a:p xmlns:a="http://schemas.openxmlformats.org/drawingml/2006/main">
            <a:pPr algn="l">
              <a:defRPr sz="1725" b="0">
                <a:solidFill>
                  <a:srgbClr val="9CB2BC"/>
                </a:solidFill>
                <a:latin typeface="Arial"/>
                <a:ea typeface="Arial"/>
                <a:cs typeface="Arial"/>
              </a:defRPr>
            </a:pPr>
            <a:r>
              <a:rPr sz="1725" b="0">
                <a:solidFill>
                  <a:srgbClr val="9CB2BC"/>
                </a:solidFill>
                <a:latin typeface="Arial"/>
                <a:ea typeface="Arial"/>
                <a:cs typeface="Arial"/>
              </a:rPr>
              <a:t>records within 5 km</a:t>
            </a:r>
          </a:p>
        </p:txBody>
      </p:sp>
      <p:sp>
        <p:nvSpPr>
          <p:cNvPr id="13" name="">
            <a:extLst xmlns:a="http://schemas.openxmlformats.org/drawingml/2006/main">
              <a:ext uri="{FF2B5EF4-FFF2-40B4-BE49-F238E27FC236}">
                <a16:creationId xmlns:a16="http://schemas.microsoft.com/office/drawing/2014/main" id="{9B140B11-8219-4B4F-9760-CA045059B253}"/>
              </a:ext>
            </a:extLst>
          </p:cNvPr>
          <p:cNvSpPr>
            <a:spLocks xmlns:a="http://schemas.openxmlformats.org/drawingml/2006/main" noGrp="1"/>
          </p:cNvSpPr>
          <p:nvPr/>
        </p:nvSpPr>
        <p:spPr>
          <a:xfrm xmlns:a="http://schemas.openxmlformats.org/drawingml/2006/main">
            <a:off x="800100" y="5991225"/>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0AA6B"/>
                </a:solidFill>
                <a:latin typeface="Arial"/>
                <a:ea typeface="Arial"/>
                <a:cs typeface="Arial"/>
              </a:defRPr>
            </a:pPr>
            <a:r>
              <a:rPr sz="1800" b="0">
                <a:solidFill>
                  <a:srgbClr val="F0AA6B"/>
                </a:solidFill>
                <a:latin typeface="Arial"/>
                <a:ea typeface="Arial"/>
                <a:cs typeface="Arial"/>
              </a:rPr>
              <a:t>Power capacity, fiber performance and parcel availability remain unverified.</a:t>
            </a:r>
          </a:p>
        </p:txBody>
      </p:sp>
    </p:spTree>
    <p:extLst>
      <p:ext uri="{BB962C8B-B14F-4D97-AF65-F5344CB8AC3E}">
        <p14:creationId xmlns:p14="http://schemas.microsoft.com/office/powerpoint/2010/main" val="1769455385"/>
      </p:ext>
    </p:extLst>
  </p:cSld>
</p:sld>
</file>

<file path=ppt/slides/slide7.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9" name="s7-title">
            <a:extLst xmlns:a="http://schemas.openxmlformats.org/drawingml/2006/main">
              <a:ext uri="{FF2B5EF4-FFF2-40B4-BE49-F238E27FC236}">
                <a16:creationId xmlns:a16="http://schemas.microsoft.com/office/drawing/2014/main" id="{A6EFFD0A-705C-46B1-ACFA-41A5DA56BBE6}"/>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Metro proximity can support a 30-year strategy</a:t>
            </a:r>
          </a:p>
        </p:txBody>
      </p:sp>
      <p:sp>
        <p:nvSpPr>
          <p:cNvPr id="2" name="s7-number">
            <a:extLst xmlns:a="http://schemas.openxmlformats.org/drawingml/2006/main">
              <a:ext uri="{FF2B5EF4-FFF2-40B4-BE49-F238E27FC236}">
                <a16:creationId xmlns:a16="http://schemas.microsoft.com/office/drawing/2014/main" id="{D75A277F-0198-4489-99C2-7A4CC8CC1EB6}"/>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07/07</a:t>
            </a:r>
          </a:p>
        </p:txBody>
      </p:sp>
      <p:sp>
        <p:nvSpPr>
          <p:cNvPr id="3" name="">
            <a:extLst xmlns:a="http://schemas.openxmlformats.org/drawingml/2006/main">
              <a:ext uri="{FF2B5EF4-FFF2-40B4-BE49-F238E27FC236}">
                <a16:creationId xmlns:a16="http://schemas.microsoft.com/office/drawing/2014/main" id="{D7950852-2FF8-4138-AAD1-D08E357AD740}"/>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9FAB4432-3F19-46AA-B483-CAF5EF48D9EA}"/>
              </a:ext>
            </a:extLst>
          </p:cNvPr>
          <p:cNvSpPr>
            <a:spLocks xmlns:a="http://schemas.openxmlformats.org/drawingml/2006/main" noGrp="1"/>
          </p:cNvSpPr>
          <p:nvPr/>
        </p:nvSpPr>
        <p:spPr>
          <a:xfrm xmlns:a="http://schemas.openxmlformats.org/drawingml/2006/main">
            <a:off x="781050" y="1809750"/>
            <a:ext cx="2333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58D8E4"/>
                </a:solidFill>
                <a:latin typeface="Arial"/>
                <a:ea typeface="Arial"/>
                <a:cs typeface="Arial"/>
              </a:defRPr>
            </a:pPr>
            <a:r>
              <a:rPr sz="1875" b="1">
                <a:solidFill>
                  <a:srgbClr val="58D8E4"/>
                </a:solidFill>
                <a:latin typeface="Arial"/>
                <a:ea typeface="Arial"/>
                <a:cs typeface="Arial"/>
              </a:rPr>
              <a:t>DEMAND ANCHOR</a:t>
            </a:r>
          </a:p>
        </p:txBody>
      </p:sp>
      <p:sp>
        <p:nvSpPr>
          <p:cNvPr id="5" name="">
            <a:extLst xmlns:a="http://schemas.openxmlformats.org/drawingml/2006/main">
              <a:ext uri="{FF2B5EF4-FFF2-40B4-BE49-F238E27FC236}">
                <a16:creationId xmlns:a16="http://schemas.microsoft.com/office/drawing/2014/main" id="{C120284F-3E26-41F8-A302-7C34513B8667}"/>
              </a:ext>
            </a:extLst>
          </p:cNvPr>
          <p:cNvSpPr>
            <a:spLocks xmlns:a="http://schemas.openxmlformats.org/drawingml/2006/main" noGrp="1"/>
          </p:cNvSpPr>
          <p:nvPr/>
        </p:nvSpPr>
        <p:spPr>
          <a:xfrm xmlns:a="http://schemas.openxmlformats.org/drawingml/2006/main">
            <a:off x="3371850" y="1800225"/>
            <a:ext cx="79343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EEF6F4"/>
                </a:solidFill>
                <a:latin typeface="Arial"/>
                <a:ea typeface="Arial"/>
                <a:cs typeface="Arial"/>
              </a:defRPr>
            </a:pPr>
            <a:r>
              <a:rPr sz="1875" b="0">
                <a:solidFill>
                  <a:srgbClr val="EEF6F4"/>
                </a:solidFill>
                <a:latin typeface="Arial"/>
                <a:ea typeface="Arial"/>
                <a:cs typeface="Arial"/>
              </a:rPr>
              <a:t>Residents and firms change location gradually. Latency-sensitive demand may stay tied to the metro.</a:t>
            </a:r>
          </a:p>
        </p:txBody>
      </p:sp>
      <p:sp>
        <p:nvSpPr>
          <p:cNvPr id="6" name="">
            <a:extLst xmlns:a="http://schemas.openxmlformats.org/drawingml/2006/main">
              <a:ext uri="{FF2B5EF4-FFF2-40B4-BE49-F238E27FC236}">
                <a16:creationId xmlns:a16="http://schemas.microsoft.com/office/drawing/2014/main" id="{0ADEC290-5424-4279-9C0D-B06D920FC8C1}"/>
              </a:ext>
            </a:extLst>
          </p:cNvPr>
          <p:cNvSpPr>
            <a:spLocks xmlns:a="http://schemas.openxmlformats.org/drawingml/2006/main" noGrp="1"/>
          </p:cNvSpPr>
          <p:nvPr/>
        </p:nvSpPr>
        <p:spPr>
          <a:xfrm xmlns:a="http://schemas.openxmlformats.org/drawingml/2006/main">
            <a:off x="781050" y="3048000"/>
            <a:ext cx="2333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0AA6B"/>
                </a:solidFill>
                <a:latin typeface="Arial"/>
                <a:ea typeface="Arial"/>
                <a:cs typeface="Arial"/>
              </a:defRPr>
            </a:pPr>
            <a:r>
              <a:rPr sz="1875" b="1">
                <a:solidFill>
                  <a:srgbClr val="F0AA6B"/>
                </a:solidFill>
                <a:latin typeface="Arial"/>
                <a:ea typeface="Arial"/>
                <a:cs typeface="Arial"/>
              </a:rPr>
              <a:t>LAND OPTION</a:t>
            </a:r>
          </a:p>
        </p:txBody>
      </p:sp>
      <p:sp>
        <p:nvSpPr>
          <p:cNvPr id="7" name="">
            <a:extLst xmlns:a="http://schemas.openxmlformats.org/drawingml/2006/main">
              <a:ext uri="{FF2B5EF4-FFF2-40B4-BE49-F238E27FC236}">
                <a16:creationId xmlns:a16="http://schemas.microsoft.com/office/drawing/2014/main" id="{3074D6FF-EB87-46C0-AEC3-EF6F514AC9FF}"/>
              </a:ext>
            </a:extLst>
          </p:cNvPr>
          <p:cNvSpPr>
            <a:spLocks xmlns:a="http://schemas.openxmlformats.org/drawingml/2006/main" noGrp="1"/>
          </p:cNvSpPr>
          <p:nvPr/>
        </p:nvSpPr>
        <p:spPr>
          <a:xfrm xmlns:a="http://schemas.openxmlformats.org/drawingml/2006/main">
            <a:off x="3371850" y="3038475"/>
            <a:ext cx="79343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EEF6F4"/>
                </a:solidFill>
                <a:latin typeface="Arial"/>
                <a:ea typeface="Arial"/>
                <a:cs typeface="Arial"/>
              </a:defRPr>
            </a:pPr>
            <a:r>
              <a:rPr sz="1875" b="0">
                <a:solidFill>
                  <a:srgbClr val="EEF6F4"/>
                </a:solidFill>
                <a:latin typeface="Arial"/>
                <a:ea typeface="Arial"/>
                <a:cs typeface="Arial"/>
              </a:rPr>
              <a:t>Suburban sites near fiber and grid are scarcer than rural acreage. Preserve expansion room early.</a:t>
            </a:r>
          </a:p>
        </p:txBody>
      </p:sp>
      <p:sp>
        <p:nvSpPr>
          <p:cNvPr id="8" name="">
            <a:extLst xmlns:a="http://schemas.openxmlformats.org/drawingml/2006/main">
              <a:ext uri="{FF2B5EF4-FFF2-40B4-BE49-F238E27FC236}">
                <a16:creationId xmlns:a16="http://schemas.microsoft.com/office/drawing/2014/main" id="{73DCDEC0-91C1-4A6C-A320-E9359879CD06}"/>
              </a:ext>
            </a:extLst>
          </p:cNvPr>
          <p:cNvSpPr>
            <a:spLocks xmlns:a="http://schemas.openxmlformats.org/drawingml/2006/main" noGrp="1"/>
          </p:cNvSpPr>
          <p:nvPr/>
        </p:nvSpPr>
        <p:spPr>
          <a:xfrm xmlns:a="http://schemas.openxmlformats.org/drawingml/2006/main">
            <a:off x="781050" y="4286250"/>
            <a:ext cx="2333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89D9BF"/>
                </a:solidFill>
                <a:latin typeface="Arial"/>
                <a:ea typeface="Arial"/>
                <a:cs typeface="Arial"/>
              </a:defRPr>
            </a:pPr>
            <a:r>
              <a:rPr sz="1875" b="1">
                <a:solidFill>
                  <a:srgbClr val="89D9BF"/>
                </a:solidFill>
                <a:latin typeface="Arial"/>
                <a:ea typeface="Arial"/>
                <a:cs typeface="Arial"/>
              </a:rPr>
              <a:t>DURABLE LINKS</a:t>
            </a:r>
          </a:p>
        </p:txBody>
      </p:sp>
      <p:sp>
        <p:nvSpPr>
          <p:cNvPr id="9" name="">
            <a:extLst xmlns:a="http://schemas.openxmlformats.org/drawingml/2006/main">
              <a:ext uri="{FF2B5EF4-FFF2-40B4-BE49-F238E27FC236}">
                <a16:creationId xmlns:a16="http://schemas.microsoft.com/office/drawing/2014/main" id="{6F31A74E-A2F5-4EDB-8EC6-FA09F7900041}"/>
              </a:ext>
            </a:extLst>
          </p:cNvPr>
          <p:cNvSpPr>
            <a:spLocks xmlns:a="http://schemas.openxmlformats.org/drawingml/2006/main" noGrp="1"/>
          </p:cNvSpPr>
          <p:nvPr/>
        </p:nvSpPr>
        <p:spPr>
          <a:xfrm xmlns:a="http://schemas.openxmlformats.org/drawingml/2006/main">
            <a:off x="3371850" y="4276725"/>
            <a:ext cx="79343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EEF6F4"/>
                </a:solidFill>
                <a:latin typeface="Arial"/>
                <a:ea typeface="Arial"/>
                <a:cs typeface="Arial"/>
              </a:defRPr>
            </a:pPr>
            <a:r>
              <a:rPr sz="1875" b="0">
                <a:solidFill>
                  <a:srgbClr val="EEF6F4"/>
                </a:solidFill>
                <a:latin typeface="Arial"/>
                <a:ea typeface="Arial"/>
                <a:cs typeface="Arial"/>
              </a:rPr>
              <a:t>Power, carrier and heat links can outlast GPUs. Refresh hardware and reroute work as demand changes.</a:t>
            </a:r>
          </a:p>
        </p:txBody>
      </p:sp>
      <p:sp>
        <p:nvSpPr>
          <p:cNvPr id="10" name="">
            <a:extLst xmlns:a="http://schemas.openxmlformats.org/drawingml/2006/main">
              <a:ext uri="{FF2B5EF4-FFF2-40B4-BE49-F238E27FC236}">
                <a16:creationId xmlns:a16="http://schemas.microsoft.com/office/drawing/2014/main" id="{91E13F72-C5D9-41B8-BD24-A9EA1532B189}"/>
              </a:ext>
            </a:extLst>
          </p:cNvPr>
          <p:cNvSpPr>
            <a:spLocks xmlns:a="http://schemas.openxmlformats.org/drawingml/2006/main" noGrp="1"/>
          </p:cNvSpPr>
          <p:nvPr/>
        </p:nvSpPr>
        <p:spPr>
          <a:xfrm xmlns:a="http://schemas.openxmlformats.org/drawingml/2006/main" flipH="0">
            <a:off x="781050" y="286702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1" name="">
            <a:extLst xmlns:a="http://schemas.openxmlformats.org/drawingml/2006/main">
              <a:ext uri="{FF2B5EF4-FFF2-40B4-BE49-F238E27FC236}">
                <a16:creationId xmlns:a16="http://schemas.microsoft.com/office/drawing/2014/main" id="{9F632AB8-2C1C-49DA-B7D0-0367BEC5F469}"/>
              </a:ext>
            </a:extLst>
          </p:cNvPr>
          <p:cNvSpPr>
            <a:spLocks xmlns:a="http://schemas.openxmlformats.org/drawingml/2006/main" noGrp="1"/>
          </p:cNvSpPr>
          <p:nvPr/>
        </p:nvSpPr>
        <p:spPr>
          <a:xfrm xmlns:a="http://schemas.openxmlformats.org/drawingml/2006/main" flipH="0">
            <a:off x="781050" y="410527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2" name="">
            <a:extLst xmlns:a="http://schemas.openxmlformats.org/drawingml/2006/main">
              <a:ext uri="{FF2B5EF4-FFF2-40B4-BE49-F238E27FC236}">
                <a16:creationId xmlns:a16="http://schemas.microsoft.com/office/drawing/2014/main" id="{E3EE96FB-19C7-4005-801D-B16F33FA98B5}"/>
              </a:ext>
            </a:extLst>
          </p:cNvPr>
          <p:cNvSpPr>
            <a:spLocks xmlns:a="http://schemas.openxmlformats.org/drawingml/2006/main" noGrp="1"/>
          </p:cNvSpPr>
          <p:nvPr/>
        </p:nvSpPr>
        <p:spPr>
          <a:xfrm xmlns:a="http://schemas.openxmlformats.org/drawingml/2006/main" flipH="0">
            <a:off x="1200150" y="5915025"/>
            <a:ext cx="9791700" cy="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13" name="">
            <a:extLst xmlns:a="http://schemas.openxmlformats.org/drawingml/2006/main">
              <a:ext uri="{FF2B5EF4-FFF2-40B4-BE49-F238E27FC236}">
                <a16:creationId xmlns:a16="http://schemas.microsoft.com/office/drawing/2014/main" id="{03A3C976-7F97-4EA0-9713-DA5354C90EF7}"/>
              </a:ext>
            </a:extLst>
          </p:cNvPr>
          <p:cNvSpPr>
            <a:spLocks xmlns:a="http://schemas.openxmlformats.org/drawingml/2006/main" noGrp="1"/>
          </p:cNvSpPr>
          <p:nvPr/>
        </p:nvSpPr>
        <p:spPr>
          <a:xfrm xmlns:a="http://schemas.openxmlformats.org/drawingml/2006/main">
            <a:off x="1619250" y="5829300"/>
            <a:ext cx="171450" cy="17145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4" name="">
            <a:extLst xmlns:a="http://schemas.openxmlformats.org/drawingml/2006/main">
              <a:ext uri="{FF2B5EF4-FFF2-40B4-BE49-F238E27FC236}">
                <a16:creationId xmlns:a16="http://schemas.microsoft.com/office/drawing/2014/main" id="{CC5FF88C-98E0-4B8C-BDC4-E52DDE48E943}"/>
              </a:ext>
            </a:extLst>
          </p:cNvPr>
          <p:cNvSpPr>
            <a:spLocks xmlns:a="http://schemas.openxmlformats.org/drawingml/2006/main" noGrp="1"/>
          </p:cNvSpPr>
          <p:nvPr/>
        </p:nvSpPr>
        <p:spPr>
          <a:xfrm xmlns:a="http://schemas.openxmlformats.org/drawingml/2006/main">
            <a:off x="381000" y="6124575"/>
            <a:ext cx="2647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0AA6B"/>
                </a:solidFill>
                <a:latin typeface="Arial"/>
                <a:ea typeface="Arial"/>
                <a:cs typeface="Arial"/>
              </a:defRPr>
            </a:pPr>
            <a:r>
              <a:rPr sz="1575" b="1">
                <a:solidFill>
                  <a:srgbClr val="F0AA6B"/>
                </a:solidFill>
                <a:latin typeface="Arial"/>
                <a:ea typeface="Arial"/>
                <a:cs typeface="Arial"/>
              </a:rPr>
              <a:t>2030  VERIFY</a:t>
            </a:r>
          </a:p>
        </p:txBody>
      </p:sp>
      <p:sp>
        <p:nvSpPr>
          <p:cNvPr id="15" name="">
            <a:extLst xmlns:a="http://schemas.openxmlformats.org/drawingml/2006/main">
              <a:ext uri="{FF2B5EF4-FFF2-40B4-BE49-F238E27FC236}">
                <a16:creationId xmlns:a16="http://schemas.microsoft.com/office/drawing/2014/main" id="{14145D87-6847-45D7-B36D-C4812A94A82A}"/>
              </a:ext>
            </a:extLst>
          </p:cNvPr>
          <p:cNvSpPr>
            <a:spLocks xmlns:a="http://schemas.openxmlformats.org/drawingml/2006/main" noGrp="1"/>
          </p:cNvSpPr>
          <p:nvPr/>
        </p:nvSpPr>
        <p:spPr>
          <a:xfrm xmlns:a="http://schemas.openxmlformats.org/drawingml/2006/main">
            <a:off x="6010275" y="5829300"/>
            <a:ext cx="171450" cy="17145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6" name="">
            <a:extLst xmlns:a="http://schemas.openxmlformats.org/drawingml/2006/main">
              <a:ext uri="{FF2B5EF4-FFF2-40B4-BE49-F238E27FC236}">
                <a16:creationId xmlns:a16="http://schemas.microsoft.com/office/drawing/2014/main" id="{DBD41C8C-7D23-47E2-AE22-D87E685C8A96}"/>
              </a:ext>
            </a:extLst>
          </p:cNvPr>
          <p:cNvSpPr>
            <a:spLocks xmlns:a="http://schemas.openxmlformats.org/drawingml/2006/main" noGrp="1"/>
          </p:cNvSpPr>
          <p:nvPr/>
        </p:nvSpPr>
        <p:spPr>
          <a:xfrm xmlns:a="http://schemas.openxmlformats.org/drawingml/2006/main">
            <a:off x="4772025" y="6124575"/>
            <a:ext cx="2647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58D8E4"/>
                </a:solidFill>
                <a:latin typeface="Arial"/>
                <a:ea typeface="Arial"/>
                <a:cs typeface="Arial"/>
              </a:defRPr>
            </a:pPr>
            <a:r>
              <a:rPr sz="1575" b="1">
                <a:solidFill>
                  <a:srgbClr val="58D8E4"/>
                </a:solidFill>
                <a:latin typeface="Arial"/>
                <a:ea typeface="Arial"/>
                <a:cs typeface="Arial"/>
              </a:rPr>
              <a:t>2040  PHASE</a:t>
            </a:r>
          </a:p>
        </p:txBody>
      </p:sp>
      <p:sp>
        <p:nvSpPr>
          <p:cNvPr id="17" name="">
            <a:extLst xmlns:a="http://schemas.openxmlformats.org/drawingml/2006/main">
              <a:ext uri="{FF2B5EF4-FFF2-40B4-BE49-F238E27FC236}">
                <a16:creationId xmlns:a16="http://schemas.microsoft.com/office/drawing/2014/main" id="{822FAE97-534B-47A7-9F31-462D74B879E7}"/>
              </a:ext>
            </a:extLst>
          </p:cNvPr>
          <p:cNvSpPr>
            <a:spLocks xmlns:a="http://schemas.openxmlformats.org/drawingml/2006/main" noGrp="1"/>
          </p:cNvSpPr>
          <p:nvPr/>
        </p:nvSpPr>
        <p:spPr>
          <a:xfrm xmlns:a="http://schemas.openxmlformats.org/drawingml/2006/main">
            <a:off x="10391775" y="5829300"/>
            <a:ext cx="171450" cy="171450"/>
          </a:xfrm>
          <a:prstGeom xmlns:a="http://schemas.openxmlformats.org/drawingml/2006/main" prst="ellipse">
            <a:avLst/>
          </a:prstGeom>
          <a:solidFill xmlns:a="http://schemas.openxmlformats.org/drawingml/2006/main">
            <a:srgbClr val="89D9BF"/>
          </a:solidFill>
          <a:ln xmlns:a="http://schemas.openxmlformats.org/drawingml/2006/main" w="9525">
            <a:solidFill>
              <a:srgbClr val="071722"/>
            </a:solidFill>
            <a:prstDash val="solid"/>
          </a:ln>
        </p:spPr>
      </p:sp>
      <p:sp>
        <p:nvSpPr>
          <p:cNvPr id="18" name="">
            <a:extLst xmlns:a="http://schemas.openxmlformats.org/drawingml/2006/main">
              <a:ext uri="{FF2B5EF4-FFF2-40B4-BE49-F238E27FC236}">
                <a16:creationId xmlns:a16="http://schemas.microsoft.com/office/drawing/2014/main" id="{62A43D06-CF75-4CC8-9BED-E58153E0CFDD}"/>
              </a:ext>
            </a:extLst>
          </p:cNvPr>
          <p:cNvSpPr>
            <a:spLocks xmlns:a="http://schemas.openxmlformats.org/drawingml/2006/main" noGrp="1"/>
          </p:cNvSpPr>
          <p:nvPr/>
        </p:nvSpPr>
        <p:spPr>
          <a:xfrm xmlns:a="http://schemas.openxmlformats.org/drawingml/2006/main">
            <a:off x="9153525" y="6124575"/>
            <a:ext cx="2647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89D9BF"/>
                </a:solidFill>
                <a:latin typeface="Arial"/>
                <a:ea typeface="Arial"/>
                <a:cs typeface="Arial"/>
              </a:defRPr>
            </a:pPr>
            <a:r>
              <a:rPr sz="1575" b="1">
                <a:solidFill>
                  <a:srgbClr val="89D9BF"/>
                </a:solidFill>
                <a:latin typeface="Arial"/>
                <a:ea typeface="Arial"/>
                <a:cs typeface="Arial"/>
              </a:rPr>
              <a:t>2050  REASSESS</a:t>
            </a:r>
          </a:p>
        </p:txBody>
      </p:sp>
    </p:spTree>
    <p:extLst>
      <p:ext uri="{BB962C8B-B14F-4D97-AF65-F5344CB8AC3E}">
        <p14:creationId xmlns:p14="http://schemas.microsoft.com/office/powerpoint/2010/main" val="10287097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2026-10-04T01:50:36.5990000Z</dcterms:created>
  <dcterms:modified xsi:type="dcterms:W3CDTF">2026-10-04T01:50:36.5990000Z</dcterms:modified>
</coreProperties>
</file>